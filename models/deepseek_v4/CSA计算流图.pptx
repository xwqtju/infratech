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6"/>
  </p:sldMasterIdLst>
  <p:sldIdLst>
    <p:sldId id="256" r:id="rId1"/>
    <p:sldId id="257" r:id="rId2"/>
    <p:sldId id="258" r:id="rId3"/>
    <p:sldId id="259" r:id="rId4"/>
    <p:sldId id="260" r:id="rId5"/>
  </p:sldIdLst>
  <p:sldSz cx="13333333" cy="7500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Master" Target="slideMasters/slideMaster1.xml"/><Relationship Id="rId7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416667" y="194444"/>
            <a:ext cx="8333333" cy="333333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3000" b="1">
                <a:solidFill>
                  <a:srgbClr val="151515"/>
                </a:solidFill>
              </a:rPr>
              <a:t>CSA 计算流图总览</a:t>
            </a:r>
            <a:endParaRPr lang="zh-CN" sz="3000"/>
          </a:p>
        </p:txBody>
      </p:sp>
      <p:sp>
        <p:nvSpPr>
          <p:cNvPr id="11" name="slide subtitle"/>
          <p:cNvSpPr txBox="1"/>
          <p:nvPr/>
        </p:nvSpPr>
        <p:spPr>
          <a:xfrm>
            <a:off x="416667" y="541667"/>
            <a:ext cx="9722222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500">
                <a:solidFill>
                  <a:srgbClr val="60646C"/>
                </a:solidFill>
              </a:rPr>
              <a:t>Compressed Sparse Attention = Token 压缩 + Indexer Top-k + Window/Compress 稀疏 MQA</a:t>
            </a:r>
            <a:endParaRPr lang="zh-CN" sz="1500"/>
          </a:p>
        </p:txBody>
      </p:sp>
      <p:sp>
        <p:nvSpPr>
          <p:cNvPr id="20" name="CSA 主计算路径 box"/>
          <p:cNvSpPr/>
          <p:nvPr/>
        </p:nvSpPr>
        <p:spPr>
          <a:xfrm>
            <a:off x="381944" y="1006944"/>
            <a:ext cx="12569444" cy="5902778"/>
          </a:xfrm>
          <a:prstGeom prst="roundRect">
            <a:avLst/>
          </a:prstGeom>
          <a:solidFill>
            <a:srgbClr val="FFF6E8"/>
          </a:solidFill>
          <a:ln w="12000">
            <a:solidFill>
              <a:srgbClr val="E88900"/>
            </a:solidFill>
            <a:prstDash val="dash"/>
          </a:ln>
        </p:spPr>
        <p:txBody>
          <a:bodyPr/>
          <a:lstStyle/>
          <a:p/>
        </p:txBody>
      </p:sp>
      <p:sp>
        <p:nvSpPr>
          <p:cNvPr id="21" name="CSA 主计算路径"/>
          <p:cNvSpPr txBox="1"/>
          <p:nvPr/>
        </p:nvSpPr>
        <p:spPr>
          <a:xfrm>
            <a:off x="520833" y="1118056"/>
            <a:ext cx="12291666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2400" b="1">
                <a:solidFill>
                  <a:srgbClr val="E88900"/>
                </a:solidFill>
              </a:rPr>
              <a:t>CSA 主计算路径</a:t>
            </a:r>
            <a:endParaRPr lang="zh-CN" sz="2400"/>
          </a:p>
        </p:txBody>
      </p:sp>
      <p:sp>
        <p:nvSpPr>
          <p:cNvPr id="30" name="Q 路径 box"/>
          <p:cNvSpPr/>
          <p:nvPr/>
        </p:nvSpPr>
        <p:spPr>
          <a:xfrm>
            <a:off x="659722" y="1631944"/>
            <a:ext cx="2916667" cy="2291667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E88900"/>
            </a:solidFill>
            <a:prstDash val="dash"/>
          </a:ln>
        </p:spPr>
        <p:txBody>
          <a:bodyPr/>
          <a:lstStyle/>
          <a:p/>
        </p:txBody>
      </p:sp>
      <p:sp>
        <p:nvSpPr>
          <p:cNvPr id="31" name="Q 路径"/>
          <p:cNvSpPr txBox="1"/>
          <p:nvPr/>
        </p:nvSpPr>
        <p:spPr>
          <a:xfrm>
            <a:off x="798611" y="1743056"/>
            <a:ext cx="2638889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2400" b="1">
                <a:solidFill>
                  <a:srgbClr val="E88900"/>
                </a:solidFill>
              </a:rPr>
              <a:t>Q 路径</a:t>
            </a:r>
            <a:endParaRPr lang="zh-CN" sz="2400"/>
          </a:p>
        </p:txBody>
      </p:sp>
      <p:sp>
        <p:nvSpPr>
          <p:cNvPr id="40" name="Linear(Q down)"/>
          <p:cNvSpPr/>
          <p:nvPr/>
        </p:nvSpPr>
        <p:spPr>
          <a:xfrm>
            <a:off x="1250000" y="2027778"/>
            <a:ext cx="1180556" cy="277778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150">
                <a:solidFill>
                  <a:srgbClr val="FFFFFF"/>
                </a:solidFill>
              </a:rPr>
              <a:t>Linear(Q down)</a:t>
            </a:r>
            <a:endParaRPr lang="zh-CN" sz="1150"/>
          </a:p>
        </p:txBody>
      </p:sp>
      <p:sp>
        <p:nvSpPr>
          <p:cNvPr id="41" name="RMSNorm"/>
          <p:cNvSpPr/>
          <p:nvPr/>
        </p:nvSpPr>
        <p:spPr>
          <a:xfrm>
            <a:off x="1333333" y="2500000"/>
            <a:ext cx="1180556" cy="277778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150">
                <a:solidFill>
                  <a:srgbClr val="FFFFFF"/>
                </a:solidFill>
              </a:rPr>
              <a:t>RMSNorm</a:t>
            </a:r>
            <a:endParaRPr lang="zh-CN" sz="1150"/>
          </a:p>
        </p:txBody>
      </p:sp>
      <p:sp>
        <p:nvSpPr>
          <p:cNvPr id="42" name="Linear(Q up)"/>
          <p:cNvSpPr/>
          <p:nvPr/>
        </p:nvSpPr>
        <p:spPr>
          <a:xfrm>
            <a:off x="1250000" y="2972222"/>
            <a:ext cx="1180556" cy="277778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150">
                <a:solidFill>
                  <a:srgbClr val="FFFFFF"/>
                </a:solidFill>
              </a:rPr>
              <a:t>Linear(Q up)</a:t>
            </a:r>
            <a:endParaRPr lang="zh-CN" sz="1150"/>
          </a:p>
        </p:txBody>
      </p:sp>
      <p:sp>
        <p:nvSpPr>
          <p:cNvPr id="43" name="Q head Norm"/>
          <p:cNvSpPr/>
          <p:nvPr/>
        </p:nvSpPr>
        <p:spPr>
          <a:xfrm>
            <a:off x="1250000" y="3444444"/>
            <a:ext cx="1180556" cy="277778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150">
                <a:solidFill>
                  <a:srgbClr val="FFFFFF"/>
                </a:solidFill>
              </a:rPr>
              <a:t>Q head Norm</a:t>
            </a:r>
            <a:endParaRPr lang="zh-CN" sz="1150"/>
          </a:p>
        </p:txBody>
      </p:sp>
      <p:cxnSp>
        <p:nvCxnSpPr>
          <p:cNvPr id="44" name="Arrow 44"/>
          <p:cNvCxnSpPr/>
          <p:nvPr/>
        </p:nvCxnSpPr>
        <p:spPr>
          <a:xfrm>
            <a:off x="1840278" y="2305556"/>
            <a:ext cx="6944" cy="1944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5" name="Arrow 45"/>
          <p:cNvCxnSpPr/>
          <p:nvPr/>
        </p:nvCxnSpPr>
        <p:spPr>
          <a:xfrm>
            <a:off x="1840278" y="2777778"/>
            <a:ext cx="6944" cy="1944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6" name="Arrow 46"/>
          <p:cNvCxnSpPr/>
          <p:nvPr/>
        </p:nvCxnSpPr>
        <p:spPr>
          <a:xfrm>
            <a:off x="1840278" y="3250000"/>
            <a:ext cx="6944" cy="1944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47" name="RoPE"/>
          <p:cNvSpPr/>
          <p:nvPr/>
        </p:nvSpPr>
        <p:spPr>
          <a:xfrm>
            <a:off x="2847222" y="3444444"/>
            <a:ext cx="555556" cy="277778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100">
                <a:solidFill>
                  <a:srgbClr val="FFFFFF"/>
                </a:solidFill>
              </a:rPr>
              <a:t>RoPE</a:t>
            </a:r>
            <a:endParaRPr lang="zh-CN" sz="1100"/>
          </a:p>
        </p:txBody>
      </p:sp>
      <p:cxnSp>
        <p:nvCxnSpPr>
          <p:cNvPr id="48" name="Arrow 48"/>
          <p:cNvCxnSpPr/>
          <p:nvPr/>
        </p:nvCxnSpPr>
        <p:spPr>
          <a:xfrm>
            <a:off x="2430555" y="3583333"/>
            <a:ext cx="416667" cy="69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49" name="Q"/>
          <p:cNvSpPr/>
          <p:nvPr/>
        </p:nvSpPr>
        <p:spPr>
          <a:xfrm>
            <a:off x="3923611" y="3444444"/>
            <a:ext cx="527778" cy="277778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200">
                <a:solidFill>
                  <a:srgbClr val="FFFFFF"/>
                </a:solidFill>
              </a:rPr>
              <a:t>Q</a:t>
            </a:r>
            <a:endParaRPr lang="zh-CN" sz="1200"/>
          </a:p>
        </p:txBody>
      </p:sp>
      <p:cxnSp>
        <p:nvCxnSpPr>
          <p:cNvPr id="50" name="Arrow 50"/>
          <p:cNvCxnSpPr/>
          <p:nvPr/>
        </p:nvCxnSpPr>
        <p:spPr>
          <a:xfrm>
            <a:off x="3402778" y="3583333"/>
            <a:ext cx="520833" cy="69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51" name="Token Level Compressor (C4A) box"/>
          <p:cNvSpPr/>
          <p:nvPr/>
        </p:nvSpPr>
        <p:spPr>
          <a:xfrm>
            <a:off x="659722" y="4236111"/>
            <a:ext cx="4166667" cy="2083333"/>
          </a:xfrm>
          <a:prstGeom prst="roundRect">
            <a:avLst/>
          </a:prstGeom>
          <a:solidFill>
            <a:srgbClr val="F1F5FF"/>
          </a:solidFill>
          <a:ln w="12000">
            <a:solidFill>
              <a:srgbClr val="586DCE"/>
            </a:solidFill>
            <a:prstDash val="dash"/>
          </a:ln>
        </p:spPr>
        <p:txBody>
          <a:bodyPr/>
          <a:lstStyle/>
          <a:p/>
        </p:txBody>
      </p:sp>
      <p:sp>
        <p:nvSpPr>
          <p:cNvPr id="52" name="Token Level Compressor (C4A)"/>
          <p:cNvSpPr txBox="1"/>
          <p:nvPr/>
        </p:nvSpPr>
        <p:spPr>
          <a:xfrm>
            <a:off x="798611" y="4347222"/>
            <a:ext cx="3888889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2400" b="1">
                <a:solidFill>
                  <a:srgbClr val="586DCE"/>
                </a:solidFill>
              </a:rPr>
              <a:t>Token Level Compressor (C4A)</a:t>
            </a:r>
            <a:endParaRPr lang="zh-CN" sz="2400"/>
          </a:p>
        </p:txBody>
      </p:sp>
      <p:sp>
        <p:nvSpPr>
          <p:cNvPr id="61" name="Linear(KV proj)"/>
          <p:cNvSpPr/>
          <p:nvPr/>
        </p:nvSpPr>
        <p:spPr>
          <a:xfrm>
            <a:off x="1041667" y="4750000"/>
            <a:ext cx="1319444" cy="312500"/>
          </a:xfrm>
          <a:prstGeom prst="roundRect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100">
                <a:solidFill>
                  <a:srgbClr val="FFFFFF"/>
                </a:solidFill>
              </a:rPr>
              <a:t>Linear(KV proj)</a:t>
            </a:r>
            <a:endParaRPr lang="zh-CN" sz="1100"/>
          </a:p>
        </p:txBody>
      </p:sp>
      <p:sp>
        <p:nvSpPr>
          <p:cNvPr id="62" name="kv_state"/>
          <p:cNvSpPr/>
          <p:nvPr/>
        </p:nvSpPr>
        <p:spPr>
          <a:xfrm>
            <a:off x="1041667" y="5416667"/>
            <a:ext cx="1319444" cy="312500"/>
          </a:xfrm>
          <a:prstGeom prst="roundRect">
            <a:avLst/>
          </a:prstGeom>
          <a:solidFill>
            <a:srgbClr val="7533AD"/>
          </a:solidFill>
          <a:ln w="12000">
            <a:solidFill>
              <a:srgbClr val="5C238B"/>
            </a:solidFill>
          </a:ln>
        </p:spPr>
        <p:txBody>
          <a:bodyPr wrap="square" anchor="mid" anchorCtr="1"/>
          <a:lstStyle/>
          <a:p>
            <a:pPr algn="ctr"/>
            <a:r>
              <a:rPr lang="zh-CN" sz="1100">
                <a:solidFill>
                  <a:srgbClr val="FFFFFF"/>
                </a:solidFill>
              </a:rPr>
              <a:t>kv_state</a:t>
            </a:r>
            <a:endParaRPr lang="zh-CN" sz="1100"/>
          </a:p>
        </p:txBody>
      </p:sp>
      <p:sp>
        <p:nvSpPr>
          <p:cNvPr id="63" name="Linear(Gate proj)"/>
          <p:cNvSpPr/>
          <p:nvPr/>
        </p:nvSpPr>
        <p:spPr>
          <a:xfrm>
            <a:off x="2881944" y="4750000"/>
            <a:ext cx="1319444" cy="312500"/>
          </a:xfrm>
          <a:prstGeom prst="roundRect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100">
                <a:solidFill>
                  <a:srgbClr val="FFFFFF"/>
                </a:solidFill>
              </a:rPr>
              <a:t>Linear(Gate proj)</a:t>
            </a:r>
            <a:endParaRPr lang="zh-CN" sz="1100"/>
          </a:p>
        </p:txBody>
      </p:sp>
      <p:sp>
        <p:nvSpPr>
          <p:cNvPr id="64" name="score_state"/>
          <p:cNvSpPr/>
          <p:nvPr/>
        </p:nvSpPr>
        <p:spPr>
          <a:xfrm>
            <a:off x="2881944" y="5416667"/>
            <a:ext cx="1319444" cy="312500"/>
          </a:xfrm>
          <a:prstGeom prst="roundRect">
            <a:avLst/>
          </a:prstGeom>
          <a:solidFill>
            <a:srgbClr val="7533AD"/>
          </a:solidFill>
          <a:ln w="12000">
            <a:solidFill>
              <a:srgbClr val="5C238B"/>
            </a:solidFill>
          </a:ln>
        </p:spPr>
        <p:txBody>
          <a:bodyPr wrap="square" anchor="mid" anchorCtr="1"/>
          <a:lstStyle/>
          <a:p>
            <a:pPr algn="ctr"/>
            <a:r>
              <a:rPr lang="zh-CN" sz="1100">
                <a:solidFill>
                  <a:srgbClr val="FFFFFF"/>
                </a:solidFill>
              </a:rPr>
              <a:t>score_state</a:t>
            </a:r>
            <a:endParaRPr lang="zh-CN" sz="1100"/>
          </a:p>
        </p:txBody>
      </p:sp>
      <p:cxnSp>
        <p:nvCxnSpPr>
          <p:cNvPr id="65" name="Arrow 65"/>
          <p:cNvCxnSpPr/>
          <p:nvPr/>
        </p:nvCxnSpPr>
        <p:spPr>
          <a:xfrm>
            <a:off x="1701389" y="5062500"/>
            <a:ext cx="6944" cy="354167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66" name="Arrow 66"/>
          <p:cNvCxnSpPr/>
          <p:nvPr/>
        </p:nvCxnSpPr>
        <p:spPr>
          <a:xfrm>
            <a:off x="3541667" y="5062500"/>
            <a:ext cx="6944" cy="354167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67" name="compress cache"/>
          <p:cNvSpPr/>
          <p:nvPr/>
        </p:nvSpPr>
        <p:spPr>
          <a:xfrm>
            <a:off x="2118056" y="5972222"/>
            <a:ext cx="1527778" cy="291667"/>
          </a:xfrm>
          <a:prstGeom prst="roundRect">
            <a:avLst/>
          </a:prstGeom>
          <a:solidFill>
            <a:srgbClr val="FA1B1B"/>
          </a:solidFill>
          <a:ln w="12000">
            <a:solidFill>
              <a:srgbClr val="C91414"/>
            </a:solidFill>
          </a:ln>
        </p:spPr>
        <p:txBody>
          <a:bodyPr wrap="square" anchor="mid" anchorCtr="1"/>
          <a:lstStyle/>
          <a:p>
            <a:pPr algn="ctr"/>
            <a:r>
              <a:rPr lang="zh-CN" sz="1050">
                <a:solidFill>
                  <a:srgbClr val="FFFFFF"/>
                </a:solidFill>
              </a:rPr>
              <a:t>KV cache (compress)</a:t>
            </a:r>
            <a:endParaRPr lang="zh-CN" sz="1050"/>
          </a:p>
        </p:txBody>
      </p:sp>
      <p:cxnSp>
        <p:nvCxnSpPr>
          <p:cNvPr id="68" name="Arrow 68"/>
          <p:cNvCxnSpPr/>
          <p:nvPr/>
        </p:nvCxnSpPr>
        <p:spPr>
          <a:xfrm>
            <a:off x="1701389" y="5729167"/>
            <a:ext cx="416667" cy="388889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69" name="Arrow 69"/>
          <p:cNvCxnSpPr/>
          <p:nvPr/>
        </p:nvCxnSpPr>
        <p:spPr>
          <a:xfrm>
            <a:off x="3541667" y="5729167"/>
            <a:ext cx="104167" cy="388889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70" name="Indexer box"/>
          <p:cNvSpPr/>
          <p:nvPr/>
        </p:nvSpPr>
        <p:spPr>
          <a:xfrm>
            <a:off x="5277778" y="1631944"/>
            <a:ext cx="2986111" cy="2291667"/>
          </a:xfrm>
          <a:prstGeom prst="roundRect">
            <a:avLst/>
          </a:prstGeom>
          <a:solidFill>
            <a:srgbClr val="F5FBEF"/>
          </a:solidFill>
          <a:ln w="12000">
            <a:solidFill>
              <a:srgbClr val="6DAE2B"/>
            </a:solidFill>
            <a:prstDash val="dash"/>
          </a:ln>
        </p:spPr>
        <p:txBody>
          <a:bodyPr/>
          <a:lstStyle/>
          <a:p/>
        </p:txBody>
      </p:sp>
      <p:sp>
        <p:nvSpPr>
          <p:cNvPr id="71" name="Indexer"/>
          <p:cNvSpPr txBox="1"/>
          <p:nvPr/>
        </p:nvSpPr>
        <p:spPr>
          <a:xfrm>
            <a:off x="5416667" y="1743056"/>
            <a:ext cx="2708333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2400" b="1">
                <a:solidFill>
                  <a:srgbClr val="6DAE2B"/>
                </a:solidFill>
              </a:rPr>
              <a:t>Indexer</a:t>
            </a:r>
            <a:endParaRPr lang="zh-CN" sz="2400"/>
          </a:p>
        </p:txBody>
      </p:sp>
      <p:sp>
        <p:nvSpPr>
          <p:cNvPr id="80" name="Q up + RoPE"/>
          <p:cNvSpPr/>
          <p:nvPr/>
        </p:nvSpPr>
        <p:spPr>
          <a:xfrm>
            <a:off x="6076389" y="2055556"/>
            <a:ext cx="1319444" cy="291667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050">
                <a:solidFill>
                  <a:srgbClr val="FFFFFF"/>
                </a:solidFill>
              </a:rPr>
              <a:t>Q up + RoPE</a:t>
            </a:r>
            <a:endParaRPr lang="zh-CN" sz="1050"/>
          </a:p>
        </p:txBody>
      </p:sp>
      <p:sp>
        <p:nvSpPr>
          <p:cNvPr id="81" name="Quant / Rotate"/>
          <p:cNvSpPr/>
          <p:nvPr/>
        </p:nvSpPr>
        <p:spPr>
          <a:xfrm>
            <a:off x="6076389" y="2534722"/>
            <a:ext cx="1319444" cy="291667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050">
                <a:solidFill>
                  <a:srgbClr val="FFFFFF"/>
                </a:solidFill>
              </a:rPr>
              <a:t>Quant / Rotate</a:t>
            </a:r>
            <a:endParaRPr lang="zh-CN" sz="1050"/>
          </a:p>
        </p:txBody>
      </p:sp>
      <p:sp>
        <p:nvSpPr>
          <p:cNvPr id="82" name="Matmul KV"/>
          <p:cNvSpPr/>
          <p:nvPr/>
        </p:nvSpPr>
        <p:spPr>
          <a:xfrm>
            <a:off x="6076389" y="3013889"/>
            <a:ext cx="1319444" cy="291667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050">
                <a:solidFill>
                  <a:srgbClr val="FFFFFF"/>
                </a:solidFill>
              </a:rPr>
              <a:t>Matmul KV</a:t>
            </a:r>
            <a:endParaRPr lang="zh-CN" sz="1050"/>
          </a:p>
        </p:txBody>
      </p:sp>
      <p:sp>
        <p:nvSpPr>
          <p:cNvPr id="83" name="ReLU + Sum"/>
          <p:cNvSpPr/>
          <p:nvPr/>
        </p:nvSpPr>
        <p:spPr>
          <a:xfrm>
            <a:off x="6076389" y="3493056"/>
            <a:ext cx="1319444" cy="291667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050">
                <a:solidFill>
                  <a:srgbClr val="FFFFFF"/>
                </a:solidFill>
              </a:rPr>
              <a:t>ReLU + Sum</a:t>
            </a:r>
            <a:endParaRPr lang="zh-CN" sz="1050"/>
          </a:p>
        </p:txBody>
      </p:sp>
      <p:cxnSp>
        <p:nvCxnSpPr>
          <p:cNvPr id="84" name="Arrow 84"/>
          <p:cNvCxnSpPr/>
          <p:nvPr/>
        </p:nvCxnSpPr>
        <p:spPr>
          <a:xfrm>
            <a:off x="6736111" y="2347222"/>
            <a:ext cx="6944" cy="187500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85" name="Arrow 85"/>
          <p:cNvCxnSpPr/>
          <p:nvPr/>
        </p:nvCxnSpPr>
        <p:spPr>
          <a:xfrm>
            <a:off x="6736111" y="2826389"/>
            <a:ext cx="6944" cy="187500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86" name="Arrow 86"/>
          <p:cNvCxnSpPr/>
          <p:nvPr/>
        </p:nvCxnSpPr>
        <p:spPr>
          <a:xfrm>
            <a:off x="6736111" y="3305556"/>
            <a:ext cx="6944" cy="187500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87" name="topk"/>
          <p:cNvSpPr/>
          <p:nvPr/>
        </p:nvSpPr>
        <p:spPr>
          <a:xfrm>
            <a:off x="7638889" y="3493056"/>
            <a:ext cx="486111" cy="291667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950">
                <a:solidFill>
                  <a:srgbClr val="FFFFFF"/>
                </a:solidFill>
              </a:rPr>
              <a:t>Top-k</a:t>
            </a:r>
            <a:endParaRPr lang="zh-CN" sz="950"/>
          </a:p>
        </p:txBody>
      </p:sp>
      <p:cxnSp>
        <p:nvCxnSpPr>
          <p:cNvPr id="88" name="Arrow 88"/>
          <p:cNvCxnSpPr/>
          <p:nvPr/>
        </p:nvCxnSpPr>
        <p:spPr>
          <a:xfrm>
            <a:off x="7395833" y="3638889"/>
            <a:ext cx="243056" cy="6944"/>
          </a:xfrm>
          <a:prstGeom prst="line">
            <a:avLst/>
          </a:prstGeom>
          <a:ln w="18000">
            <a:solidFill>
              <a:srgbClr val="6DAE2B"/>
            </a:solidFill>
            <a:headEnd type="triangle"/>
          </a:ln>
        </p:spPr>
      </p:cxnSp>
      <p:sp>
        <p:nvSpPr>
          <p:cNvPr id="89" name="topk shape"/>
          <p:cNvSpPr txBox="1"/>
          <p:nvPr/>
        </p:nvSpPr>
        <p:spPr>
          <a:xfrm>
            <a:off x="7500000" y="3833333"/>
            <a:ext cx="1041667" cy="166667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850">
                <a:solidFill>
                  <a:srgbClr val="60646C"/>
                </a:solidFill>
              </a:rPr>
              <a:t>[1, top_k]</a:t>
            </a:r>
            <a:endParaRPr lang="zh-CN" sz="850"/>
          </a:p>
        </p:txBody>
      </p:sp>
      <p:sp>
        <p:nvSpPr>
          <p:cNvPr id="90" name="Sparse MQA Attention box"/>
          <p:cNvSpPr/>
          <p:nvPr/>
        </p:nvSpPr>
        <p:spPr>
          <a:xfrm>
            <a:off x="5277778" y="4236111"/>
            <a:ext cx="4236111" cy="2083333"/>
          </a:xfrm>
          <a:prstGeom prst="roundRect">
            <a:avLst/>
          </a:prstGeom>
          <a:solidFill>
            <a:srgbClr val="FFF6E8"/>
          </a:solidFill>
          <a:ln w="12000">
            <a:solidFill>
              <a:srgbClr val="E88900"/>
            </a:solidFill>
            <a:prstDash val="dash"/>
          </a:ln>
        </p:spPr>
        <p:txBody>
          <a:bodyPr/>
          <a:lstStyle/>
          <a:p/>
        </p:txBody>
      </p:sp>
      <p:sp>
        <p:nvSpPr>
          <p:cNvPr id="91" name="Sparse MQA Attention"/>
          <p:cNvSpPr txBox="1"/>
          <p:nvPr/>
        </p:nvSpPr>
        <p:spPr>
          <a:xfrm>
            <a:off x="5416667" y="4347222"/>
            <a:ext cx="3958333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2400" b="1">
                <a:solidFill>
                  <a:srgbClr val="E88900"/>
                </a:solidFill>
              </a:rPr>
              <a:t>Sparse MQA Attention</a:t>
            </a:r>
            <a:endParaRPr lang="zh-CN" sz="2400"/>
          </a:p>
        </p:txBody>
      </p:sp>
      <p:sp>
        <p:nvSpPr>
          <p:cNvPr id="100" name="concat"/>
          <p:cNvSpPr/>
          <p:nvPr/>
        </p:nvSpPr>
        <p:spPr>
          <a:xfrm>
            <a:off x="5833333" y="4722222"/>
            <a:ext cx="3055555" cy="347222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150">
                <a:solidFill>
                  <a:srgbClr val="FFFFFF"/>
                </a:solidFill>
              </a:rPr>
              <a:t>Concat KV: window + compress Top-k + sink</a:t>
            </a:r>
            <a:endParaRPr lang="zh-CN" sz="1150"/>
          </a:p>
        </p:txBody>
      </p:sp>
      <p:sp>
        <p:nvSpPr>
          <p:cNvPr id="101" name="attention"/>
          <p:cNvSpPr/>
          <p:nvPr/>
        </p:nvSpPr>
        <p:spPr>
          <a:xfrm>
            <a:off x="5833333" y="5416667"/>
            <a:ext cx="3055555" cy="381944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050">
                <a:solidFill>
                  <a:srgbClr val="FFFFFF"/>
                </a:solidFill>
              </a:rPr>
              <a:t>Attention(MQA): softmax(QK^T/sqrt(d))V</a:t>
            </a:r>
            <a:endParaRPr lang="zh-CN" sz="1050"/>
          </a:p>
        </p:txBody>
      </p:sp>
      <p:cxnSp>
        <p:nvCxnSpPr>
          <p:cNvPr id="102" name="Arrow 102"/>
          <p:cNvCxnSpPr/>
          <p:nvPr/>
        </p:nvCxnSpPr>
        <p:spPr>
          <a:xfrm>
            <a:off x="7361111" y="5069444"/>
            <a:ext cx="6944" cy="347222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103" name="O"/>
          <p:cNvSpPr/>
          <p:nvPr/>
        </p:nvSpPr>
        <p:spPr>
          <a:xfrm>
            <a:off x="6458333" y="5958333"/>
            <a:ext cx="1805556" cy="291667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050">
                <a:solidFill>
                  <a:srgbClr val="FFFFFF"/>
                </a:solidFill>
              </a:rPr>
              <a:t>O: [1, heads, head_dim]</a:t>
            </a:r>
            <a:endParaRPr lang="zh-CN" sz="1050"/>
          </a:p>
        </p:txBody>
      </p:sp>
      <p:cxnSp>
        <p:nvCxnSpPr>
          <p:cNvPr id="104" name="Arrow 104"/>
          <p:cNvCxnSpPr/>
          <p:nvPr/>
        </p:nvCxnSpPr>
        <p:spPr>
          <a:xfrm>
            <a:off x="7361111" y="5798611"/>
            <a:ext cx="6944" cy="159722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105" name="Arrow 105"/>
          <p:cNvCxnSpPr/>
          <p:nvPr/>
        </p:nvCxnSpPr>
        <p:spPr>
          <a:xfrm>
            <a:off x="4451389" y="3583333"/>
            <a:ext cx="1381944" cy="2013889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106" name="Arrow 106"/>
          <p:cNvCxnSpPr/>
          <p:nvPr/>
        </p:nvCxnSpPr>
        <p:spPr>
          <a:xfrm flipV="1">
            <a:off x="2881944" y="4902778"/>
            <a:ext cx="2951389" cy="1069444"/>
          </a:xfrm>
          <a:prstGeom prst="line">
            <a:avLst/>
          </a:prstGeom>
          <a:ln w="18000">
            <a:solidFill>
              <a:srgbClr val="6DAE2B"/>
            </a:solidFill>
            <a:prstDash val="dash"/>
            <a:headEnd type="triangle"/>
          </a:ln>
        </p:spPr>
      </p:cxnSp>
      <p:cxnSp>
        <p:nvCxnSpPr>
          <p:cNvPr id="107" name="Arrow 107"/>
          <p:cNvCxnSpPr/>
          <p:nvPr/>
        </p:nvCxnSpPr>
        <p:spPr>
          <a:xfrm flipH="1">
            <a:off x="7361111" y="3638889"/>
            <a:ext cx="763889" cy="1083333"/>
          </a:xfrm>
          <a:prstGeom prst="line">
            <a:avLst/>
          </a:prstGeom>
          <a:ln w="18000">
            <a:solidFill>
              <a:srgbClr val="6DAE2B"/>
            </a:solidFill>
            <a:prstDash val="dash"/>
            <a:headEnd type="triangle"/>
          </a:ln>
        </p:spPr>
      </p:cxnSp>
      <p:sp>
        <p:nvSpPr>
          <p:cNvPr id="108" name="输出投影与残差 box"/>
          <p:cNvSpPr/>
          <p:nvPr/>
        </p:nvSpPr>
        <p:spPr>
          <a:xfrm>
            <a:off x="10000000" y="1631944"/>
            <a:ext cx="2534722" cy="46875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E88900"/>
            </a:solidFill>
            <a:prstDash val="dash"/>
          </a:ln>
        </p:spPr>
        <p:txBody>
          <a:bodyPr/>
          <a:lstStyle/>
          <a:p/>
        </p:txBody>
      </p:sp>
      <p:sp>
        <p:nvSpPr>
          <p:cNvPr id="109" name="输出投影与残差"/>
          <p:cNvSpPr txBox="1"/>
          <p:nvPr/>
        </p:nvSpPr>
        <p:spPr>
          <a:xfrm>
            <a:off x="10138889" y="1743056"/>
            <a:ext cx="2256944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2400" b="1">
                <a:solidFill>
                  <a:srgbClr val="E88900"/>
                </a:solidFill>
              </a:rPr>
              <a:t>输出投影与残差</a:t>
            </a:r>
            <a:endParaRPr lang="zh-CN" sz="2400"/>
          </a:p>
        </p:txBody>
      </p:sp>
      <p:sp>
        <p:nvSpPr>
          <p:cNvPr id="118" name="RoPE inverse"/>
          <p:cNvSpPr/>
          <p:nvPr/>
        </p:nvSpPr>
        <p:spPr>
          <a:xfrm>
            <a:off x="10590278" y="2361111"/>
            <a:ext cx="1354167" cy="319444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100">
                <a:solidFill>
                  <a:srgbClr val="FFFFFF"/>
                </a:solidFill>
              </a:rPr>
              <a:t>RoPE inverse</a:t>
            </a:r>
            <a:endParaRPr lang="zh-CN" sz="1100"/>
          </a:p>
        </p:txBody>
      </p:sp>
      <p:sp>
        <p:nvSpPr>
          <p:cNvPr id="119" name="Linear(O down)"/>
          <p:cNvSpPr/>
          <p:nvPr/>
        </p:nvSpPr>
        <p:spPr>
          <a:xfrm>
            <a:off x="10590278" y="3125000"/>
            <a:ext cx="1354167" cy="319444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100">
                <a:solidFill>
                  <a:srgbClr val="FFFFFF"/>
                </a:solidFill>
              </a:rPr>
              <a:t>Linear(O down)</a:t>
            </a:r>
            <a:endParaRPr lang="zh-CN" sz="1100"/>
          </a:p>
        </p:txBody>
      </p:sp>
      <p:sp>
        <p:nvSpPr>
          <p:cNvPr id="120" name="Linear(O up)"/>
          <p:cNvSpPr/>
          <p:nvPr/>
        </p:nvSpPr>
        <p:spPr>
          <a:xfrm>
            <a:off x="10590278" y="3888889"/>
            <a:ext cx="1354167" cy="319444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100">
                <a:solidFill>
                  <a:srgbClr val="FFFFFF"/>
                </a:solidFill>
              </a:rPr>
              <a:t>Linear(O up)</a:t>
            </a:r>
            <a:endParaRPr lang="zh-CN" sz="1100"/>
          </a:p>
        </p:txBody>
      </p:sp>
      <p:sp>
        <p:nvSpPr>
          <p:cNvPr id="121" name="residual add"/>
          <p:cNvSpPr/>
          <p:nvPr/>
        </p:nvSpPr>
        <p:spPr>
          <a:xfrm>
            <a:off x="11111111" y="4583333"/>
            <a:ext cx="375000" cy="375000"/>
          </a:xfrm>
          <a:prstGeom prst="ellipse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700" b="1">
                <a:solidFill>
                  <a:srgbClr val="FFFFFF"/>
                </a:solidFill>
              </a:rPr>
              <a:t>+</a:t>
            </a:r>
            <a:endParaRPr lang="zh-CN" sz="1700"/>
          </a:p>
        </p:txBody>
      </p:sp>
      <p:sp>
        <p:nvSpPr>
          <p:cNvPr id="122" name="hc_post"/>
          <p:cNvSpPr/>
          <p:nvPr/>
        </p:nvSpPr>
        <p:spPr>
          <a:xfrm>
            <a:off x="10520833" y="5277778"/>
            <a:ext cx="1527778" cy="333333"/>
          </a:xfrm>
          <a:prstGeom prst="roundRect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200">
                <a:solidFill>
                  <a:srgbClr val="FFFFFF"/>
                </a:solidFill>
              </a:rPr>
              <a:t>hc_post</a:t>
            </a:r>
            <a:endParaRPr lang="zh-CN" sz="1200"/>
          </a:p>
        </p:txBody>
      </p:sp>
      <p:cxnSp>
        <p:nvCxnSpPr>
          <p:cNvPr id="123" name="Arrow 123"/>
          <p:cNvCxnSpPr/>
          <p:nvPr/>
        </p:nvCxnSpPr>
        <p:spPr>
          <a:xfrm>
            <a:off x="11263889" y="2680556"/>
            <a:ext cx="6944" cy="4444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124" name="Arrow 124"/>
          <p:cNvCxnSpPr/>
          <p:nvPr/>
        </p:nvCxnSpPr>
        <p:spPr>
          <a:xfrm>
            <a:off x="11263889" y="3444444"/>
            <a:ext cx="6944" cy="4444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125" name="Arrow 125"/>
          <p:cNvCxnSpPr/>
          <p:nvPr/>
        </p:nvCxnSpPr>
        <p:spPr>
          <a:xfrm>
            <a:off x="11263889" y="4208333"/>
            <a:ext cx="34722" cy="375000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126" name="Arrow 126"/>
          <p:cNvCxnSpPr/>
          <p:nvPr/>
        </p:nvCxnSpPr>
        <p:spPr>
          <a:xfrm>
            <a:off x="11298611" y="4958333"/>
            <a:ext cx="6944" cy="3194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127" name="Arrow 127"/>
          <p:cNvCxnSpPr/>
          <p:nvPr/>
        </p:nvCxnSpPr>
        <p:spPr>
          <a:xfrm flipV="1">
            <a:off x="8263889" y="2520833"/>
            <a:ext cx="2326389" cy="3583333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128" name="params"/>
          <p:cNvSpPr txBox="1"/>
          <p:nvPr/>
        </p:nvSpPr>
        <p:spPr>
          <a:xfrm>
            <a:off x="10069444" y="5750000"/>
            <a:ext cx="2291667" cy="416667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900">
                <a:solidFill>
                  <a:srgbClr val="60646C"/>
                </a:solidFill>
              </a:rPr>
              <a:t>heads=128  head_dim=512</a:t>
            </a:r>
            <a:endParaRPr lang="zh-CN" sz="900"/>
          </a:p>
          <a:p>
            <a:pPr algn="l"/>
            <a:r>
              <a:rPr lang="zh-CN" sz="900">
                <a:solidFill>
                  <a:srgbClr val="60646C"/>
                </a:solidFill>
              </a:rPr>
              <a:t>index_topk=1024  window_size=128</a:t>
            </a:r>
            <a:endParaRPr lang="zh-CN" sz="900"/>
          </a:p>
        </p:txBody>
      </p:sp>
      <p:sp>
        <p:nvSpPr>
          <p:cNvPr id="900" name="footer"/>
          <p:cNvSpPr txBox="1"/>
          <p:nvPr/>
        </p:nvSpPr>
        <p:spPr>
          <a:xfrm>
            <a:off x="416667" y="7194444"/>
            <a:ext cx="7638889" cy="166667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900">
                <a:solidFill>
                  <a:srgbClr val="7A7A7A"/>
                </a:solidFill>
              </a:rPr>
              <a:t>CSA Computation Graph | DeepSeek V4 attention notes</a:t>
            </a:r>
            <a:endParaRPr lang="zh-CN" sz="900"/>
          </a:p>
        </p:txBody>
      </p:sp>
      <p:sp>
        <p:nvSpPr>
          <p:cNvPr id="901" name="page"/>
          <p:cNvSpPr txBox="1"/>
          <p:nvPr/>
        </p:nvSpPr>
        <p:spPr>
          <a:xfrm>
            <a:off x="12569444" y="7194444"/>
            <a:ext cx="416667" cy="166667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r"/>
            <a:r>
              <a:rPr lang="zh-CN" sz="900">
                <a:solidFill>
                  <a:srgbClr val="7A7A7A"/>
                </a:solidFill>
              </a:rPr>
              <a:t>1</a:t>
            </a:r>
            <a:endParaRPr 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416667" y="194444"/>
            <a:ext cx="8333333" cy="333333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3000" b="1">
                <a:solidFill>
                  <a:srgbClr val="151515"/>
                </a:solidFill>
              </a:rPr>
              <a:t>CSA: Token Level Compressor（C4A）</a:t>
            </a:r>
            <a:endParaRPr lang="zh-CN" sz="3000"/>
          </a:p>
        </p:txBody>
      </p:sp>
      <p:sp>
        <p:nvSpPr>
          <p:cNvPr id="11" name="slide subtitle"/>
          <p:cNvSpPr txBox="1"/>
          <p:nvPr/>
        </p:nvSpPr>
        <p:spPr>
          <a:xfrm>
            <a:off x="416667" y="541667"/>
            <a:ext cx="9722222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500">
                <a:solidFill>
                  <a:srgbClr val="60646C"/>
                </a:solidFill>
              </a:rPr>
              <a:t>将当前 token 写入压缩缓存，并滚动更新 kv_state / score_state</a:t>
            </a:r>
            <a:endParaRPr lang="zh-CN" sz="1500"/>
          </a:p>
        </p:txBody>
      </p:sp>
      <p:sp>
        <p:nvSpPr>
          <p:cNvPr id="20" name="Compressor 数据流 box"/>
          <p:cNvSpPr/>
          <p:nvPr/>
        </p:nvSpPr>
        <p:spPr>
          <a:xfrm>
            <a:off x="555556" y="1041667"/>
            <a:ext cx="12222222" cy="5763889"/>
          </a:xfrm>
          <a:prstGeom prst="roundRect">
            <a:avLst/>
          </a:prstGeom>
          <a:solidFill>
            <a:srgbClr val="F1F5FF"/>
          </a:solidFill>
          <a:ln w="12000">
            <a:solidFill>
              <a:srgbClr val="586DCE"/>
            </a:solidFill>
            <a:prstDash val="dash"/>
          </a:ln>
        </p:spPr>
        <p:txBody>
          <a:bodyPr/>
          <a:lstStyle/>
          <a:p/>
        </p:txBody>
      </p:sp>
      <p:sp>
        <p:nvSpPr>
          <p:cNvPr id="21" name="Compressor 数据流"/>
          <p:cNvSpPr txBox="1"/>
          <p:nvPr/>
        </p:nvSpPr>
        <p:spPr>
          <a:xfrm>
            <a:off x="694444" y="1152778"/>
            <a:ext cx="11944444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2400" b="1">
                <a:solidFill>
                  <a:srgbClr val="586DCE"/>
                </a:solidFill>
              </a:rPr>
              <a:t>Compressor 数据流</a:t>
            </a:r>
            <a:endParaRPr lang="zh-CN" sz="2400"/>
          </a:p>
        </p:txBody>
      </p:sp>
      <p:sp>
        <p:nvSpPr>
          <p:cNvPr id="30" name="input"/>
          <p:cNvSpPr txBox="1"/>
          <p:nvPr/>
        </p:nvSpPr>
        <p:spPr>
          <a:xfrm>
            <a:off x="763889" y="1423611"/>
            <a:ext cx="1805556" cy="222222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200">
                <a:solidFill>
                  <a:srgbClr val="60646C"/>
                </a:solidFill>
              </a:rPr>
              <a:t>输入 h: [1, hidden_size]</a:t>
            </a:r>
            <a:endParaRPr lang="zh-CN" sz="1200"/>
          </a:p>
        </p:txBody>
      </p:sp>
      <p:sp>
        <p:nvSpPr>
          <p:cNvPr id="31" name="kv proj"/>
          <p:cNvSpPr/>
          <p:nvPr/>
        </p:nvSpPr>
        <p:spPr>
          <a:xfrm>
            <a:off x="1319444" y="2013889"/>
            <a:ext cx="2083333" cy="402778"/>
          </a:xfrm>
          <a:prstGeom prst="roundRect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Linear(KV proj)</a:t>
            </a:r>
            <a:endParaRPr lang="zh-CN" sz="1500"/>
          </a:p>
        </p:txBody>
      </p:sp>
      <p:sp>
        <p:nvSpPr>
          <p:cNvPr id="32" name="gate proj"/>
          <p:cNvSpPr/>
          <p:nvPr/>
        </p:nvSpPr>
        <p:spPr>
          <a:xfrm>
            <a:off x="7777778" y="2013889"/>
            <a:ext cx="2222222" cy="402778"/>
          </a:xfrm>
          <a:prstGeom prst="roundRect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Linear(Gate proj)</a:t>
            </a:r>
            <a:endParaRPr lang="zh-CN" sz="1500"/>
          </a:p>
        </p:txBody>
      </p:sp>
      <p:cxnSp>
        <p:nvCxnSpPr>
          <p:cNvPr id="33" name="Arrow 33"/>
          <p:cNvCxnSpPr/>
          <p:nvPr/>
        </p:nvCxnSpPr>
        <p:spPr>
          <a:xfrm>
            <a:off x="1805556" y="1645833"/>
            <a:ext cx="555556" cy="368056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34" name="Arrow 34"/>
          <p:cNvCxnSpPr/>
          <p:nvPr/>
        </p:nvCxnSpPr>
        <p:spPr>
          <a:xfrm>
            <a:off x="1805556" y="1645833"/>
            <a:ext cx="7083333" cy="368056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35" name="kv_state"/>
          <p:cNvSpPr/>
          <p:nvPr/>
        </p:nvSpPr>
        <p:spPr>
          <a:xfrm>
            <a:off x="1597222" y="2986111"/>
            <a:ext cx="1527778" cy="402778"/>
          </a:xfrm>
          <a:prstGeom prst="roundRect">
            <a:avLst/>
          </a:prstGeom>
          <a:solidFill>
            <a:srgbClr val="7533AD"/>
          </a:solidFill>
          <a:ln w="12000">
            <a:solidFill>
              <a:srgbClr val="5C238B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kv_state</a:t>
            </a:r>
            <a:endParaRPr lang="zh-CN" sz="1500"/>
          </a:p>
        </p:txBody>
      </p:sp>
      <p:sp>
        <p:nvSpPr>
          <p:cNvPr id="36" name="ape"/>
          <p:cNvSpPr/>
          <p:nvPr/>
        </p:nvSpPr>
        <p:spPr>
          <a:xfrm>
            <a:off x="7013889" y="2986111"/>
            <a:ext cx="902778" cy="402778"/>
          </a:xfrm>
          <a:prstGeom prst="roundRect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APE</a:t>
            </a:r>
            <a:endParaRPr lang="zh-CN" sz="1500"/>
          </a:p>
        </p:txBody>
      </p:sp>
      <p:sp>
        <p:nvSpPr>
          <p:cNvPr id="37" name="plus"/>
          <p:cNvSpPr/>
          <p:nvPr/>
        </p:nvSpPr>
        <p:spPr>
          <a:xfrm>
            <a:off x="8402778" y="2986111"/>
            <a:ext cx="402778" cy="402778"/>
          </a:xfrm>
          <a:prstGeom prst="ellipse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700" b="1">
                <a:solidFill>
                  <a:srgbClr val="FFFFFF"/>
                </a:solidFill>
              </a:rPr>
              <a:t>+</a:t>
            </a:r>
            <a:endParaRPr lang="zh-CN" sz="1700"/>
          </a:p>
        </p:txBody>
      </p:sp>
      <p:sp>
        <p:nvSpPr>
          <p:cNvPr id="38" name="score"/>
          <p:cNvSpPr/>
          <p:nvPr/>
        </p:nvSpPr>
        <p:spPr>
          <a:xfrm>
            <a:off x="9305555" y="2986111"/>
            <a:ext cx="1597222" cy="402778"/>
          </a:xfrm>
          <a:prstGeom prst="roundRect">
            <a:avLst/>
          </a:prstGeom>
          <a:solidFill>
            <a:srgbClr val="7533AD"/>
          </a:solidFill>
          <a:ln w="12000">
            <a:solidFill>
              <a:srgbClr val="5C238B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score_state</a:t>
            </a:r>
            <a:endParaRPr lang="zh-CN" sz="1500"/>
          </a:p>
        </p:txBody>
      </p:sp>
      <p:cxnSp>
        <p:nvCxnSpPr>
          <p:cNvPr id="39" name="Arrow 39"/>
          <p:cNvCxnSpPr/>
          <p:nvPr/>
        </p:nvCxnSpPr>
        <p:spPr>
          <a:xfrm>
            <a:off x="2361111" y="2416667"/>
            <a:ext cx="6944" cy="5694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0" name="Arrow 40"/>
          <p:cNvCxnSpPr/>
          <p:nvPr/>
        </p:nvCxnSpPr>
        <p:spPr>
          <a:xfrm flipH="1">
            <a:off x="8604166" y="2416667"/>
            <a:ext cx="284722" cy="5694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1" name="Arrow 41"/>
          <p:cNvCxnSpPr/>
          <p:nvPr/>
        </p:nvCxnSpPr>
        <p:spPr>
          <a:xfrm>
            <a:off x="7916666" y="3187500"/>
            <a:ext cx="486111" cy="69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2" name="Arrow 42"/>
          <p:cNvCxnSpPr/>
          <p:nvPr/>
        </p:nvCxnSpPr>
        <p:spPr>
          <a:xfrm>
            <a:off x="8805555" y="3187500"/>
            <a:ext cx="500000" cy="69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43" name="softmax"/>
          <p:cNvSpPr/>
          <p:nvPr/>
        </p:nvSpPr>
        <p:spPr>
          <a:xfrm>
            <a:off x="8194444" y="4097222"/>
            <a:ext cx="1527778" cy="402778"/>
          </a:xfrm>
          <a:prstGeom prst="roundRect">
            <a:avLst/>
          </a:prstGeom>
          <a:solidFill>
            <a:srgbClr val="7533AD"/>
          </a:solidFill>
          <a:ln w="12000">
            <a:solidFill>
              <a:srgbClr val="5C238B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softmax</a:t>
            </a:r>
            <a:endParaRPr lang="zh-CN" sz="1500"/>
          </a:p>
        </p:txBody>
      </p:sp>
      <p:sp>
        <p:nvSpPr>
          <p:cNvPr id="44" name="mul"/>
          <p:cNvSpPr/>
          <p:nvPr/>
        </p:nvSpPr>
        <p:spPr>
          <a:xfrm>
            <a:off x="5277778" y="4097222"/>
            <a:ext cx="402778" cy="402778"/>
          </a:xfrm>
          <a:prstGeom prst="ellipse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700" b="1">
                <a:solidFill>
                  <a:srgbClr val="FFFFFF"/>
                </a:solidFill>
              </a:rPr>
              <a:t>×</a:t>
            </a:r>
            <a:endParaRPr lang="zh-CN" sz="1700"/>
          </a:p>
        </p:txBody>
      </p:sp>
      <p:sp>
        <p:nvSpPr>
          <p:cNvPr id="45" name="sum"/>
          <p:cNvSpPr/>
          <p:nvPr/>
        </p:nvSpPr>
        <p:spPr>
          <a:xfrm>
            <a:off x="4513889" y="5069444"/>
            <a:ext cx="1527778" cy="402778"/>
          </a:xfrm>
          <a:prstGeom prst="roundRect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sum</a:t>
            </a:r>
            <a:endParaRPr lang="zh-CN" sz="1500"/>
          </a:p>
        </p:txBody>
      </p:sp>
      <p:sp>
        <p:nvSpPr>
          <p:cNvPr id="46" name="norm"/>
          <p:cNvSpPr/>
          <p:nvPr/>
        </p:nvSpPr>
        <p:spPr>
          <a:xfrm>
            <a:off x="6597222" y="5069444"/>
            <a:ext cx="1527778" cy="402778"/>
          </a:xfrm>
          <a:prstGeom prst="roundRect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RMSNorm</a:t>
            </a:r>
            <a:endParaRPr lang="zh-CN" sz="1500"/>
          </a:p>
        </p:txBody>
      </p:sp>
      <p:sp>
        <p:nvSpPr>
          <p:cNvPr id="47" name="rope"/>
          <p:cNvSpPr/>
          <p:nvPr/>
        </p:nvSpPr>
        <p:spPr>
          <a:xfrm>
            <a:off x="8680555" y="5069444"/>
            <a:ext cx="1250000" cy="402778"/>
          </a:xfrm>
          <a:prstGeom prst="roundRect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RoPE</a:t>
            </a:r>
            <a:endParaRPr lang="zh-CN" sz="1500"/>
          </a:p>
        </p:txBody>
      </p:sp>
      <p:sp>
        <p:nvSpPr>
          <p:cNvPr id="48" name="compress cache"/>
          <p:cNvSpPr/>
          <p:nvPr/>
        </p:nvSpPr>
        <p:spPr>
          <a:xfrm>
            <a:off x="9965278" y="5833333"/>
            <a:ext cx="1944444" cy="472222"/>
          </a:xfrm>
          <a:prstGeom prst="roundRect">
            <a:avLst/>
          </a:prstGeom>
          <a:solidFill>
            <a:srgbClr val="FA1B1B"/>
          </a:solidFill>
          <a:ln w="12000">
            <a:solidFill>
              <a:srgbClr val="C91414"/>
            </a:solidFill>
          </a:ln>
        </p:spPr>
        <p:txBody>
          <a:bodyPr wrap="square" anchor="mid" anchorCtr="1"/>
          <a:lstStyle/>
          <a:p>
            <a:pPr algn="ctr"/>
            <a:r>
              <a:rPr lang="zh-CN" sz="1400">
                <a:solidFill>
                  <a:srgbClr val="FFFFFF"/>
                </a:solidFill>
              </a:rPr>
              <a:t>KV cache</a:t>
            </a:r>
            <a:endParaRPr lang="zh-CN" sz="1400"/>
          </a:p>
          <a:p>
            <a:pPr algn="ctr"/>
            <a:r>
              <a:rPr lang="zh-CN" sz="1400">
                <a:solidFill>
                  <a:srgbClr val="FFFFFF"/>
                </a:solidFill>
              </a:rPr>
              <a:t>(compress)</a:t>
            </a:r>
            <a:endParaRPr lang="zh-CN" sz="1400"/>
          </a:p>
        </p:txBody>
      </p:sp>
      <p:cxnSp>
        <p:nvCxnSpPr>
          <p:cNvPr id="49" name="Arrow 49"/>
          <p:cNvCxnSpPr/>
          <p:nvPr/>
        </p:nvCxnSpPr>
        <p:spPr>
          <a:xfrm flipH="1">
            <a:off x="8958333" y="3388889"/>
            <a:ext cx="1145833" cy="708333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50" name="Arrow 50"/>
          <p:cNvCxnSpPr/>
          <p:nvPr/>
        </p:nvCxnSpPr>
        <p:spPr>
          <a:xfrm flipH="1" flipV="1">
            <a:off x="5486111" y="4097222"/>
            <a:ext cx="3472222" cy="402778"/>
          </a:xfrm>
          <a:prstGeom prst="line">
            <a:avLst/>
          </a:prstGeom>
          <a:ln w="18000">
            <a:solidFill>
              <a:srgbClr val="5C238B"/>
            </a:solidFill>
            <a:headEnd type="triangle"/>
          </a:ln>
        </p:spPr>
      </p:cxnSp>
      <p:cxnSp>
        <p:nvCxnSpPr>
          <p:cNvPr id="51" name="Arrow 51"/>
          <p:cNvCxnSpPr/>
          <p:nvPr/>
        </p:nvCxnSpPr>
        <p:spPr>
          <a:xfrm>
            <a:off x="2361111" y="3388889"/>
            <a:ext cx="2916667" cy="708333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52" name="Arrow 52"/>
          <p:cNvCxnSpPr/>
          <p:nvPr/>
        </p:nvCxnSpPr>
        <p:spPr>
          <a:xfrm flipH="1">
            <a:off x="5277778" y="4500000"/>
            <a:ext cx="201389" cy="5694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53" name="Arrow 53"/>
          <p:cNvCxnSpPr/>
          <p:nvPr/>
        </p:nvCxnSpPr>
        <p:spPr>
          <a:xfrm>
            <a:off x="6041667" y="5270833"/>
            <a:ext cx="555556" cy="69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54" name="Arrow 54"/>
          <p:cNvCxnSpPr/>
          <p:nvPr/>
        </p:nvCxnSpPr>
        <p:spPr>
          <a:xfrm>
            <a:off x="8125000" y="5270833"/>
            <a:ext cx="555556" cy="69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55" name="Arrow 55"/>
          <p:cNvCxnSpPr/>
          <p:nvPr/>
        </p:nvCxnSpPr>
        <p:spPr>
          <a:xfrm>
            <a:off x="9930555" y="5270833"/>
            <a:ext cx="1006944" cy="562500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56" name="note"/>
          <p:cNvSpPr txBox="1"/>
          <p:nvPr/>
        </p:nvSpPr>
        <p:spPr>
          <a:xfrm>
            <a:off x="763889" y="5972222"/>
            <a:ext cx="7291666" cy="500000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250">
                <a:solidFill>
                  <a:srgbClr val="151515"/>
                </a:solidFill>
              </a:rPr>
              <a:t>要点：C4A 不把所有 token 都完整保留，而是用 gate/score 机制把历史信息压入有限槽位；后续 CSA 从 compress cache 中按 Indexer 结果取 Top-k。</a:t>
            </a:r>
            <a:endParaRPr lang="zh-CN" sz="1250"/>
          </a:p>
        </p:txBody>
      </p:sp>
      <p:sp>
        <p:nvSpPr>
          <p:cNvPr id="900" name="footer"/>
          <p:cNvSpPr txBox="1"/>
          <p:nvPr/>
        </p:nvSpPr>
        <p:spPr>
          <a:xfrm>
            <a:off x="416667" y="7194444"/>
            <a:ext cx="7638889" cy="166667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900">
                <a:solidFill>
                  <a:srgbClr val="7A7A7A"/>
                </a:solidFill>
              </a:rPr>
              <a:t>CSA Computation Graph | DeepSeek V4 attention notes</a:t>
            </a:r>
            <a:endParaRPr lang="zh-CN" sz="900"/>
          </a:p>
        </p:txBody>
      </p:sp>
      <p:sp>
        <p:nvSpPr>
          <p:cNvPr id="901" name="page"/>
          <p:cNvSpPr txBox="1"/>
          <p:nvPr/>
        </p:nvSpPr>
        <p:spPr>
          <a:xfrm>
            <a:off x="12569444" y="7194444"/>
            <a:ext cx="416667" cy="166667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r"/>
            <a:r>
              <a:rPr lang="zh-CN" sz="900">
                <a:solidFill>
                  <a:srgbClr val="7A7A7A"/>
                </a:solidFill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416667" y="194444"/>
            <a:ext cx="8333333" cy="333333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3000" b="1">
                <a:solidFill>
                  <a:srgbClr val="151515"/>
                </a:solidFill>
              </a:rPr>
              <a:t>CSA: Indexer</a:t>
            </a:r>
            <a:endParaRPr lang="zh-CN" sz="3000"/>
          </a:p>
        </p:txBody>
      </p:sp>
      <p:sp>
        <p:nvSpPr>
          <p:cNvPr id="11" name="slide subtitle"/>
          <p:cNvSpPr txBox="1"/>
          <p:nvPr/>
        </p:nvSpPr>
        <p:spPr>
          <a:xfrm>
            <a:off x="416667" y="541667"/>
            <a:ext cx="9722222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500">
                <a:solidFill>
                  <a:srgbClr val="60646C"/>
                </a:solidFill>
              </a:rPr>
              <a:t>用轻量相关性打分决定哪些压缩 KV 进入真实 Attention</a:t>
            </a:r>
            <a:endParaRPr lang="zh-CN" sz="1500"/>
          </a:p>
        </p:txBody>
      </p:sp>
      <p:sp>
        <p:nvSpPr>
          <p:cNvPr id="20" name="Indexer 打分与选择 box"/>
          <p:cNvSpPr/>
          <p:nvPr/>
        </p:nvSpPr>
        <p:spPr>
          <a:xfrm>
            <a:off x="486111" y="1041667"/>
            <a:ext cx="12361111" cy="5763889"/>
          </a:xfrm>
          <a:prstGeom prst="roundRect">
            <a:avLst/>
          </a:prstGeom>
          <a:solidFill>
            <a:srgbClr val="F5FBEF"/>
          </a:solidFill>
          <a:ln w="12000">
            <a:solidFill>
              <a:srgbClr val="6DAE2B"/>
            </a:solidFill>
            <a:prstDash val="dash"/>
          </a:ln>
        </p:spPr>
        <p:txBody>
          <a:bodyPr/>
          <a:lstStyle/>
          <a:p/>
        </p:txBody>
      </p:sp>
      <p:sp>
        <p:nvSpPr>
          <p:cNvPr id="21" name="Indexer 打分与选择"/>
          <p:cNvSpPr txBox="1"/>
          <p:nvPr/>
        </p:nvSpPr>
        <p:spPr>
          <a:xfrm>
            <a:off x="625000" y="1152778"/>
            <a:ext cx="12083333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2400" b="1">
                <a:solidFill>
                  <a:srgbClr val="6DAE2B"/>
                </a:solidFill>
              </a:rPr>
              <a:t>Indexer 打分与选择</a:t>
            </a:r>
            <a:endParaRPr lang="zh-CN" sz="2400"/>
          </a:p>
        </p:txBody>
      </p:sp>
      <p:sp>
        <p:nvSpPr>
          <p:cNvPr id="30" name="Linear(Q up_proj)"/>
          <p:cNvSpPr/>
          <p:nvPr/>
        </p:nvSpPr>
        <p:spPr>
          <a:xfrm>
            <a:off x="2083333" y="1458333"/>
            <a:ext cx="2152778" cy="430556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Linear(Q up_proj)</a:t>
            </a:r>
            <a:endParaRPr lang="zh-CN" sz="1500"/>
          </a:p>
        </p:txBody>
      </p:sp>
      <p:sp>
        <p:nvSpPr>
          <p:cNvPr id="31" name="RoPE"/>
          <p:cNvSpPr/>
          <p:nvPr/>
        </p:nvSpPr>
        <p:spPr>
          <a:xfrm>
            <a:off x="2083333" y="2222222"/>
            <a:ext cx="2152778" cy="430556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RoPE</a:t>
            </a:r>
            <a:endParaRPr lang="zh-CN" sz="1500"/>
          </a:p>
        </p:txBody>
      </p:sp>
      <p:sp>
        <p:nvSpPr>
          <p:cNvPr id="32" name="Rotate"/>
          <p:cNvSpPr/>
          <p:nvPr/>
        </p:nvSpPr>
        <p:spPr>
          <a:xfrm>
            <a:off x="2083333" y="2986111"/>
            <a:ext cx="2152778" cy="430556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Rotate</a:t>
            </a:r>
            <a:endParaRPr lang="zh-CN" sz="1500"/>
          </a:p>
        </p:txBody>
      </p:sp>
      <p:sp>
        <p:nvSpPr>
          <p:cNvPr id="33" name="Quant"/>
          <p:cNvSpPr/>
          <p:nvPr/>
        </p:nvSpPr>
        <p:spPr>
          <a:xfrm>
            <a:off x="2083333" y="3750000"/>
            <a:ext cx="2152778" cy="430556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Quant</a:t>
            </a:r>
            <a:endParaRPr lang="zh-CN" sz="1500"/>
          </a:p>
        </p:txBody>
      </p:sp>
      <p:cxnSp>
        <p:nvCxnSpPr>
          <p:cNvPr id="34" name="Arrow 34"/>
          <p:cNvCxnSpPr/>
          <p:nvPr/>
        </p:nvCxnSpPr>
        <p:spPr>
          <a:xfrm>
            <a:off x="3159722" y="1888889"/>
            <a:ext cx="6944" cy="333333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35" name="Arrow 35"/>
          <p:cNvCxnSpPr/>
          <p:nvPr/>
        </p:nvCxnSpPr>
        <p:spPr>
          <a:xfrm>
            <a:off x="3159722" y="2652778"/>
            <a:ext cx="6944" cy="333333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36" name="Arrow 36"/>
          <p:cNvCxnSpPr/>
          <p:nvPr/>
        </p:nvCxnSpPr>
        <p:spPr>
          <a:xfrm>
            <a:off x="3159722" y="3416667"/>
            <a:ext cx="6944" cy="333333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37" name="kv value"/>
          <p:cNvSpPr/>
          <p:nvPr/>
        </p:nvSpPr>
        <p:spPr>
          <a:xfrm>
            <a:off x="6944444" y="3611111"/>
            <a:ext cx="1736111" cy="444444"/>
          </a:xfrm>
          <a:prstGeom prst="roundRect">
            <a:avLst/>
          </a:prstGeom>
          <a:solidFill>
            <a:srgbClr val="FA1B1B"/>
          </a:solidFill>
          <a:ln w="12000">
            <a:solidFill>
              <a:srgbClr val="C91414"/>
            </a:solidFill>
          </a:ln>
        </p:spPr>
        <p:txBody>
          <a:bodyPr wrap="square" anchor="mid" anchorCtr="1"/>
          <a:lstStyle/>
          <a:p>
            <a:pPr algn="ctr"/>
            <a:r>
              <a:rPr lang="zh-CN" sz="1450">
                <a:solidFill>
                  <a:srgbClr val="FFFFFF"/>
                </a:solidFill>
              </a:rPr>
              <a:t>KV value</a:t>
            </a:r>
            <a:endParaRPr lang="zh-CN" sz="1450"/>
          </a:p>
        </p:txBody>
      </p:sp>
      <p:sp>
        <p:nvSpPr>
          <p:cNvPr id="38" name="matmul"/>
          <p:cNvSpPr/>
          <p:nvPr/>
        </p:nvSpPr>
        <p:spPr>
          <a:xfrm>
            <a:off x="5208333" y="3750000"/>
            <a:ext cx="1736111" cy="430556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Matmul</a:t>
            </a:r>
            <a:endParaRPr lang="zh-CN" sz="1500"/>
          </a:p>
        </p:txBody>
      </p:sp>
      <p:cxnSp>
        <p:nvCxnSpPr>
          <p:cNvPr id="39" name="Arrow 39"/>
          <p:cNvCxnSpPr/>
          <p:nvPr/>
        </p:nvCxnSpPr>
        <p:spPr>
          <a:xfrm>
            <a:off x="4236111" y="3965278"/>
            <a:ext cx="972222" cy="69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0" name="Arrow 40"/>
          <p:cNvCxnSpPr/>
          <p:nvPr/>
        </p:nvCxnSpPr>
        <p:spPr>
          <a:xfrm>
            <a:off x="6944444" y="3833333"/>
            <a:ext cx="6944" cy="6944"/>
          </a:xfrm>
          <a:prstGeom prst="line">
            <a:avLst/>
          </a:prstGeom>
          <a:ln w="18000">
            <a:solidFill>
              <a:srgbClr val="333333"/>
            </a:solidFill>
          </a:ln>
        </p:spPr>
      </p:cxnSp>
      <p:cxnSp>
        <p:nvCxnSpPr>
          <p:cNvPr id="41" name="Arrow 41"/>
          <p:cNvCxnSpPr/>
          <p:nvPr/>
        </p:nvCxnSpPr>
        <p:spPr>
          <a:xfrm>
            <a:off x="6944444" y="3833333"/>
            <a:ext cx="6944" cy="1319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42" name="relu"/>
          <p:cNvSpPr/>
          <p:nvPr/>
        </p:nvSpPr>
        <p:spPr>
          <a:xfrm>
            <a:off x="5208333" y="2916667"/>
            <a:ext cx="1736111" cy="430556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ReLU</a:t>
            </a:r>
            <a:endParaRPr lang="zh-CN" sz="1500"/>
          </a:p>
        </p:txBody>
      </p:sp>
      <p:sp>
        <p:nvSpPr>
          <p:cNvPr id="43" name="sum"/>
          <p:cNvSpPr/>
          <p:nvPr/>
        </p:nvSpPr>
        <p:spPr>
          <a:xfrm>
            <a:off x="5208333" y="2083333"/>
            <a:ext cx="1736111" cy="430556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Sum</a:t>
            </a:r>
            <a:endParaRPr lang="zh-CN" sz="1500"/>
          </a:p>
        </p:txBody>
      </p:sp>
      <p:sp>
        <p:nvSpPr>
          <p:cNvPr id="44" name="topk"/>
          <p:cNvSpPr/>
          <p:nvPr/>
        </p:nvSpPr>
        <p:spPr>
          <a:xfrm>
            <a:off x="5208333" y="1250000"/>
            <a:ext cx="1736111" cy="430556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Top-k</a:t>
            </a:r>
            <a:endParaRPr lang="zh-CN" sz="1500"/>
          </a:p>
        </p:txBody>
      </p:sp>
      <p:cxnSp>
        <p:nvCxnSpPr>
          <p:cNvPr id="45" name="Arrow 45"/>
          <p:cNvCxnSpPr/>
          <p:nvPr/>
        </p:nvCxnSpPr>
        <p:spPr>
          <a:xfrm flipV="1">
            <a:off x="6076389" y="3347222"/>
            <a:ext cx="6944" cy="402778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6" name="Arrow 46"/>
          <p:cNvCxnSpPr/>
          <p:nvPr/>
        </p:nvCxnSpPr>
        <p:spPr>
          <a:xfrm flipV="1">
            <a:off x="6076389" y="2513889"/>
            <a:ext cx="6944" cy="402778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7" name="Arrow 47"/>
          <p:cNvCxnSpPr/>
          <p:nvPr/>
        </p:nvCxnSpPr>
        <p:spPr>
          <a:xfrm flipV="1">
            <a:off x="6076389" y="1680556"/>
            <a:ext cx="6944" cy="402778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48" name="weights"/>
          <p:cNvSpPr/>
          <p:nvPr/>
        </p:nvSpPr>
        <p:spPr>
          <a:xfrm>
            <a:off x="2083333" y="5173611"/>
            <a:ext cx="2152778" cy="430556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450">
                <a:solidFill>
                  <a:srgbClr val="FFFFFF"/>
                </a:solidFill>
              </a:rPr>
              <a:t>Linear(weights proj)</a:t>
            </a:r>
            <a:endParaRPr lang="zh-CN" sz="1450"/>
          </a:p>
        </p:txBody>
      </p:sp>
      <p:sp>
        <p:nvSpPr>
          <p:cNvPr id="49" name="scale"/>
          <p:cNvSpPr/>
          <p:nvPr/>
        </p:nvSpPr>
        <p:spPr>
          <a:xfrm>
            <a:off x="5208333" y="5173611"/>
            <a:ext cx="1736111" cy="430556"/>
          </a:xfrm>
          <a:prstGeom prst="roundRect">
            <a:avLst/>
          </a:prstGeom>
          <a:solidFill>
            <a:srgbClr val="91D64B"/>
          </a:solidFill>
          <a:ln w="12000">
            <a:solidFill>
              <a:srgbClr val="6DAE2B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Scale</a:t>
            </a:r>
            <a:endParaRPr lang="zh-CN" sz="1500"/>
          </a:p>
        </p:txBody>
      </p:sp>
      <p:cxnSp>
        <p:nvCxnSpPr>
          <p:cNvPr id="50" name="Arrow 50"/>
          <p:cNvCxnSpPr/>
          <p:nvPr/>
        </p:nvCxnSpPr>
        <p:spPr>
          <a:xfrm>
            <a:off x="4236111" y="5388889"/>
            <a:ext cx="972222" cy="69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51" name="Arrow 51"/>
          <p:cNvCxnSpPr/>
          <p:nvPr/>
        </p:nvCxnSpPr>
        <p:spPr>
          <a:xfrm flipV="1">
            <a:off x="6076389" y="4180556"/>
            <a:ext cx="6944" cy="993056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52" name="shape1"/>
          <p:cNvSpPr txBox="1"/>
          <p:nvPr/>
        </p:nvSpPr>
        <p:spPr>
          <a:xfrm>
            <a:off x="7361111" y="1284722"/>
            <a:ext cx="3125000" cy="305556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400" b="1">
                <a:solidFill>
                  <a:srgbClr val="151515"/>
                </a:solidFill>
              </a:rPr>
              <a:t>index_topk: [1, top_k]</a:t>
            </a:r>
            <a:endParaRPr lang="zh-CN" sz="1400"/>
          </a:p>
        </p:txBody>
      </p:sp>
      <p:sp>
        <p:nvSpPr>
          <p:cNvPr id="53" name="shape2"/>
          <p:cNvSpPr txBox="1"/>
          <p:nvPr/>
        </p:nvSpPr>
        <p:spPr>
          <a:xfrm>
            <a:off x="7361111" y="1736111"/>
            <a:ext cx="3888889" cy="1180556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300">
                <a:solidFill>
                  <a:srgbClr val="151515"/>
                </a:solidFill>
              </a:rPr>
              <a:t>Indexer 的输出是索引控制流：</a:t>
            </a:r>
            <a:endParaRPr lang="zh-CN" sz="1300"/>
          </a:p>
          <a:p>
            <a:pPr algn="l"/>
            <a:r>
              <a:rPr lang="zh-CN" sz="1300">
                <a:solidFill>
                  <a:srgbClr val="151515"/>
                </a:solidFill>
              </a:rPr>
              <a:t>1. 对压缩 KV 做相关性估计</a:t>
            </a:r>
            <a:endParaRPr lang="zh-CN" sz="1300"/>
          </a:p>
          <a:p>
            <a:pPr algn="l"/>
            <a:r>
              <a:rPr lang="zh-CN" sz="1300">
                <a:solidFill>
                  <a:srgbClr val="151515"/>
                </a:solidFill>
              </a:rPr>
              <a:t>2. Top-k 只返回位置/索引</a:t>
            </a:r>
            <a:endParaRPr lang="zh-CN" sz="1300"/>
          </a:p>
          <a:p>
            <a:pPr algn="l"/>
            <a:r>
              <a:rPr lang="zh-CN" sz="1300">
                <a:solidFill>
                  <a:srgbClr val="151515"/>
                </a:solidFill>
              </a:rPr>
              <a:t>3. 真正的 V 加权求和仍在 Attention 中完成</a:t>
            </a:r>
            <a:endParaRPr lang="zh-CN" sz="1300"/>
          </a:p>
        </p:txBody>
      </p:sp>
      <p:sp>
        <p:nvSpPr>
          <p:cNvPr id="54" name="select"/>
          <p:cNvSpPr/>
          <p:nvPr/>
        </p:nvSpPr>
        <p:spPr>
          <a:xfrm>
            <a:off x="8472222" y="4513889"/>
            <a:ext cx="2152778" cy="430556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78B8FF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4D83D9"/>
                </a:solidFill>
              </a:rPr>
              <a:t>Select Top-k</a:t>
            </a:r>
            <a:endParaRPr lang="zh-CN" sz="1500"/>
          </a:p>
        </p:txBody>
      </p:sp>
      <p:cxnSp>
        <p:nvCxnSpPr>
          <p:cNvPr id="55" name="Arrow 55"/>
          <p:cNvCxnSpPr/>
          <p:nvPr/>
        </p:nvCxnSpPr>
        <p:spPr>
          <a:xfrm>
            <a:off x="6944444" y="1465278"/>
            <a:ext cx="2604167" cy="3048611"/>
          </a:xfrm>
          <a:prstGeom prst="line">
            <a:avLst/>
          </a:prstGeom>
          <a:ln w="18000">
            <a:solidFill>
              <a:srgbClr val="6DAE2B"/>
            </a:solidFill>
            <a:prstDash val="dash"/>
            <a:headEnd type="triangle"/>
          </a:ln>
        </p:spPr>
      </p:cxnSp>
      <p:cxnSp>
        <p:nvCxnSpPr>
          <p:cNvPr id="56" name="Arrow 56"/>
          <p:cNvCxnSpPr/>
          <p:nvPr/>
        </p:nvCxnSpPr>
        <p:spPr>
          <a:xfrm>
            <a:off x="9548611" y="4944444"/>
            <a:ext cx="6944" cy="1097222"/>
          </a:xfrm>
          <a:prstGeom prst="line">
            <a:avLst/>
          </a:prstGeom>
          <a:ln w="18000">
            <a:solidFill>
              <a:srgbClr val="6DAE2B"/>
            </a:solidFill>
            <a:prstDash val="dash"/>
            <a:headEnd type="triangle"/>
          </a:ln>
        </p:spPr>
      </p:cxnSp>
      <p:sp>
        <p:nvSpPr>
          <p:cNvPr id="57" name="selected cache"/>
          <p:cNvSpPr/>
          <p:nvPr/>
        </p:nvSpPr>
        <p:spPr>
          <a:xfrm>
            <a:off x="8194444" y="6041667"/>
            <a:ext cx="2708333" cy="402778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350">
                <a:solidFill>
                  <a:srgbClr val="FFFFFF"/>
                </a:solidFill>
              </a:rPr>
              <a:t>selected compress KV → Attention</a:t>
            </a:r>
            <a:endParaRPr lang="zh-CN" sz="1350"/>
          </a:p>
        </p:txBody>
      </p:sp>
      <p:sp>
        <p:nvSpPr>
          <p:cNvPr id="900" name="footer"/>
          <p:cNvSpPr txBox="1"/>
          <p:nvPr/>
        </p:nvSpPr>
        <p:spPr>
          <a:xfrm>
            <a:off x="416667" y="7194444"/>
            <a:ext cx="7638889" cy="166667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900">
                <a:solidFill>
                  <a:srgbClr val="7A7A7A"/>
                </a:solidFill>
              </a:rPr>
              <a:t>CSA Computation Graph | DeepSeek V4 attention notes</a:t>
            </a:r>
            <a:endParaRPr lang="zh-CN" sz="900"/>
          </a:p>
        </p:txBody>
      </p:sp>
      <p:sp>
        <p:nvSpPr>
          <p:cNvPr id="901" name="page"/>
          <p:cNvSpPr txBox="1"/>
          <p:nvPr/>
        </p:nvSpPr>
        <p:spPr>
          <a:xfrm>
            <a:off x="12569444" y="7194444"/>
            <a:ext cx="416667" cy="166667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r"/>
            <a:r>
              <a:rPr lang="zh-CN" sz="900">
                <a:solidFill>
                  <a:srgbClr val="7A7A7A"/>
                </a:solidFill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416667" y="194444"/>
            <a:ext cx="8333333" cy="333333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3000" b="1">
                <a:solidFill>
                  <a:srgbClr val="151515"/>
                </a:solidFill>
              </a:rPr>
              <a:t>CSA: Sparse MQA Attention</a:t>
            </a:r>
            <a:endParaRPr lang="zh-CN" sz="3000"/>
          </a:p>
        </p:txBody>
      </p:sp>
      <p:sp>
        <p:nvSpPr>
          <p:cNvPr id="11" name="slide subtitle"/>
          <p:cNvSpPr txBox="1"/>
          <p:nvPr/>
        </p:nvSpPr>
        <p:spPr>
          <a:xfrm>
            <a:off x="416667" y="541667"/>
            <a:ext cx="9722222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500">
                <a:solidFill>
                  <a:srgbClr val="60646C"/>
                </a:solidFill>
              </a:rPr>
              <a:t>Window KV 保局部细节，Compress Top-k 保长程信息，sink 提供稳定锚点</a:t>
            </a:r>
            <a:endParaRPr lang="zh-CN" sz="1500"/>
          </a:p>
        </p:txBody>
      </p:sp>
      <p:sp>
        <p:nvSpPr>
          <p:cNvPr id="20" name="Attention 输入拼接与输出 box"/>
          <p:cNvSpPr/>
          <p:nvPr/>
        </p:nvSpPr>
        <p:spPr>
          <a:xfrm>
            <a:off x="555556" y="1041667"/>
            <a:ext cx="12222222" cy="5763889"/>
          </a:xfrm>
          <a:prstGeom prst="roundRect">
            <a:avLst/>
          </a:prstGeom>
          <a:solidFill>
            <a:srgbClr val="FFF6E8"/>
          </a:solidFill>
          <a:ln w="12000">
            <a:solidFill>
              <a:srgbClr val="E88900"/>
            </a:solidFill>
            <a:prstDash val="dash"/>
          </a:ln>
        </p:spPr>
        <p:txBody>
          <a:bodyPr/>
          <a:lstStyle/>
          <a:p/>
        </p:txBody>
      </p:sp>
      <p:sp>
        <p:nvSpPr>
          <p:cNvPr id="21" name="Attention 输入拼接与输出"/>
          <p:cNvSpPr txBox="1"/>
          <p:nvPr/>
        </p:nvSpPr>
        <p:spPr>
          <a:xfrm>
            <a:off x="694444" y="1152778"/>
            <a:ext cx="11944444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2400" b="1">
                <a:solidFill>
                  <a:srgbClr val="E88900"/>
                </a:solidFill>
              </a:rPr>
              <a:t>Attention 输入拼接与输出</a:t>
            </a:r>
            <a:endParaRPr lang="zh-CN" sz="2400"/>
          </a:p>
        </p:txBody>
      </p:sp>
      <p:sp>
        <p:nvSpPr>
          <p:cNvPr id="30" name="Q"/>
          <p:cNvSpPr/>
          <p:nvPr/>
        </p:nvSpPr>
        <p:spPr>
          <a:xfrm>
            <a:off x="1250000" y="2187500"/>
            <a:ext cx="1458333" cy="430556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200">
                <a:solidFill>
                  <a:srgbClr val="FFFFFF"/>
                </a:solidFill>
              </a:rPr>
              <a:t>Q</a:t>
            </a:r>
            <a:endParaRPr lang="zh-CN" sz="1200"/>
          </a:p>
          <a:p>
            <a:pPr algn="ctr"/>
            <a:r>
              <a:rPr lang="zh-CN" sz="1200">
                <a:solidFill>
                  <a:srgbClr val="FFFFFF"/>
                </a:solidFill>
              </a:rPr>
              <a:t>[1, heads, head_dim]</a:t>
            </a:r>
            <a:endParaRPr lang="zh-CN" sz="1200"/>
          </a:p>
        </p:txBody>
      </p:sp>
      <p:sp>
        <p:nvSpPr>
          <p:cNvPr id="31" name="window"/>
          <p:cNvSpPr/>
          <p:nvPr/>
        </p:nvSpPr>
        <p:spPr>
          <a:xfrm>
            <a:off x="3888889" y="1597222"/>
            <a:ext cx="1944444" cy="541667"/>
          </a:xfrm>
          <a:prstGeom prst="roundRect">
            <a:avLst/>
          </a:prstGeom>
          <a:solidFill>
            <a:srgbClr val="FA1B1B"/>
          </a:solidFill>
          <a:ln w="12000">
            <a:solidFill>
              <a:srgbClr val="C91414"/>
            </a:solidFill>
          </a:ln>
        </p:spPr>
        <p:txBody>
          <a:bodyPr wrap="square" anchor="mid" anchorCtr="1"/>
          <a:lstStyle/>
          <a:p>
            <a:pPr algn="ctr"/>
            <a:r>
              <a:rPr lang="zh-CN" sz="1400">
                <a:solidFill>
                  <a:srgbClr val="FFFFFF"/>
                </a:solidFill>
              </a:rPr>
              <a:t>KV cache</a:t>
            </a:r>
            <a:endParaRPr lang="zh-CN" sz="1400"/>
          </a:p>
          <a:p>
            <a:pPr algn="ctr"/>
            <a:r>
              <a:rPr lang="zh-CN" sz="1400">
                <a:solidFill>
                  <a:srgbClr val="FFFFFF"/>
                </a:solidFill>
              </a:rPr>
              <a:t>(window)</a:t>
            </a:r>
            <a:endParaRPr lang="zh-CN" sz="1400"/>
          </a:p>
        </p:txBody>
      </p:sp>
      <p:sp>
        <p:nvSpPr>
          <p:cNvPr id="32" name="compress"/>
          <p:cNvSpPr/>
          <p:nvPr/>
        </p:nvSpPr>
        <p:spPr>
          <a:xfrm>
            <a:off x="3888889" y="2916667"/>
            <a:ext cx="1944444" cy="541667"/>
          </a:xfrm>
          <a:prstGeom prst="roundRect">
            <a:avLst/>
          </a:prstGeom>
          <a:solidFill>
            <a:srgbClr val="FA1B1B"/>
          </a:solidFill>
          <a:ln w="12000">
            <a:solidFill>
              <a:srgbClr val="C91414"/>
            </a:solidFill>
          </a:ln>
        </p:spPr>
        <p:txBody>
          <a:bodyPr wrap="square" anchor="mid" anchorCtr="1"/>
          <a:lstStyle/>
          <a:p>
            <a:pPr algn="ctr"/>
            <a:r>
              <a:rPr lang="zh-CN" sz="1250">
                <a:solidFill>
                  <a:srgbClr val="FFFFFF"/>
                </a:solidFill>
              </a:rPr>
              <a:t>KV cache</a:t>
            </a:r>
            <a:endParaRPr lang="zh-CN" sz="1250"/>
          </a:p>
          <a:p>
            <a:pPr algn="ctr"/>
            <a:r>
              <a:rPr lang="zh-CN" sz="1250">
                <a:solidFill>
                  <a:srgbClr val="FFFFFF"/>
                </a:solidFill>
              </a:rPr>
              <a:t>(compress Top-k)</a:t>
            </a:r>
            <a:endParaRPr lang="zh-CN" sz="1250"/>
          </a:p>
        </p:txBody>
      </p:sp>
      <p:sp>
        <p:nvSpPr>
          <p:cNvPr id="33" name="sink"/>
          <p:cNvSpPr/>
          <p:nvPr/>
        </p:nvSpPr>
        <p:spPr>
          <a:xfrm>
            <a:off x="3888889" y="4236111"/>
            <a:ext cx="1944444" cy="430556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450">
                <a:solidFill>
                  <a:srgbClr val="FFFFFF"/>
                </a:solidFill>
              </a:rPr>
              <a:t>sink token</a:t>
            </a:r>
            <a:endParaRPr lang="zh-CN" sz="1450"/>
          </a:p>
        </p:txBody>
      </p:sp>
      <p:sp>
        <p:nvSpPr>
          <p:cNvPr id="34" name="concat"/>
          <p:cNvSpPr/>
          <p:nvPr/>
        </p:nvSpPr>
        <p:spPr>
          <a:xfrm>
            <a:off x="7152778" y="2534722"/>
            <a:ext cx="2986111" cy="569444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350">
                <a:solidFill>
                  <a:srgbClr val="FFFFFF"/>
                </a:solidFill>
              </a:rPr>
              <a:t>Concat KV</a:t>
            </a:r>
            <a:endParaRPr lang="zh-CN" sz="1350"/>
          </a:p>
          <a:p>
            <a:pPr algn="ctr"/>
            <a:r>
              <a:rPr lang="zh-CN" sz="1350">
                <a:solidFill>
                  <a:srgbClr val="FFFFFF"/>
                </a:solidFill>
              </a:rPr>
              <a:t>window + selected compress + sink</a:t>
            </a:r>
            <a:endParaRPr lang="zh-CN" sz="1350"/>
          </a:p>
        </p:txBody>
      </p:sp>
      <p:sp>
        <p:nvSpPr>
          <p:cNvPr id="35" name="attn"/>
          <p:cNvSpPr/>
          <p:nvPr/>
        </p:nvSpPr>
        <p:spPr>
          <a:xfrm>
            <a:off x="7152778" y="3923611"/>
            <a:ext cx="2986111" cy="638889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350">
                <a:solidFill>
                  <a:srgbClr val="FFFFFF"/>
                </a:solidFill>
              </a:rPr>
              <a:t>Attention(MQA)</a:t>
            </a:r>
            <a:endParaRPr lang="zh-CN" sz="1350"/>
          </a:p>
          <a:p>
            <a:pPr algn="ctr"/>
            <a:r>
              <a:rPr lang="zh-CN" sz="1350">
                <a:solidFill>
                  <a:srgbClr val="FFFFFF"/>
                </a:solidFill>
              </a:rPr>
              <a:t>softmax(QK^T / sqrt(d)) V</a:t>
            </a:r>
            <a:endParaRPr lang="zh-CN" sz="1350"/>
          </a:p>
        </p:txBody>
      </p:sp>
      <p:sp>
        <p:nvSpPr>
          <p:cNvPr id="36" name="output"/>
          <p:cNvSpPr/>
          <p:nvPr/>
        </p:nvSpPr>
        <p:spPr>
          <a:xfrm>
            <a:off x="10972222" y="3923611"/>
            <a:ext cx="1527778" cy="638889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300">
                <a:solidFill>
                  <a:srgbClr val="FFFFFF"/>
                </a:solidFill>
              </a:rPr>
              <a:t>O</a:t>
            </a:r>
            <a:endParaRPr lang="zh-CN" sz="1300"/>
          </a:p>
          <a:p>
            <a:pPr algn="ctr"/>
            <a:r>
              <a:rPr lang="zh-CN" sz="1300">
                <a:solidFill>
                  <a:srgbClr val="FFFFFF"/>
                </a:solidFill>
              </a:rPr>
              <a:t>[1, heads, head_dim]</a:t>
            </a:r>
            <a:endParaRPr lang="zh-CN" sz="1300"/>
          </a:p>
        </p:txBody>
      </p:sp>
      <p:cxnSp>
        <p:nvCxnSpPr>
          <p:cNvPr id="37" name="Arrow 37"/>
          <p:cNvCxnSpPr/>
          <p:nvPr/>
        </p:nvCxnSpPr>
        <p:spPr>
          <a:xfrm>
            <a:off x="2708333" y="2402778"/>
            <a:ext cx="4444444" cy="1840278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38" name="Arrow 38"/>
          <p:cNvCxnSpPr/>
          <p:nvPr/>
        </p:nvCxnSpPr>
        <p:spPr>
          <a:xfrm>
            <a:off x="5833333" y="1868056"/>
            <a:ext cx="1319444" cy="840278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39" name="Arrow 39"/>
          <p:cNvCxnSpPr/>
          <p:nvPr/>
        </p:nvCxnSpPr>
        <p:spPr>
          <a:xfrm flipV="1">
            <a:off x="5833333" y="2819444"/>
            <a:ext cx="1319444" cy="368056"/>
          </a:xfrm>
          <a:prstGeom prst="line">
            <a:avLst/>
          </a:prstGeom>
          <a:ln w="18000">
            <a:solidFill>
              <a:srgbClr val="6DAE2B"/>
            </a:solidFill>
            <a:prstDash val="dash"/>
            <a:headEnd type="triangle"/>
          </a:ln>
        </p:spPr>
      </p:cxnSp>
      <p:cxnSp>
        <p:nvCxnSpPr>
          <p:cNvPr id="40" name="Arrow 40"/>
          <p:cNvCxnSpPr/>
          <p:nvPr/>
        </p:nvCxnSpPr>
        <p:spPr>
          <a:xfrm flipV="1">
            <a:off x="5833333" y="2937500"/>
            <a:ext cx="1319444" cy="1513889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1" name="Arrow 41"/>
          <p:cNvCxnSpPr/>
          <p:nvPr/>
        </p:nvCxnSpPr>
        <p:spPr>
          <a:xfrm>
            <a:off x="8645833" y="3104167"/>
            <a:ext cx="6944" cy="8194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2" name="Arrow 42"/>
          <p:cNvCxnSpPr/>
          <p:nvPr/>
        </p:nvCxnSpPr>
        <p:spPr>
          <a:xfrm>
            <a:off x="10138889" y="4243056"/>
            <a:ext cx="833333" cy="69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43" name="window note"/>
          <p:cNvSpPr txBox="1"/>
          <p:nvPr/>
        </p:nvSpPr>
        <p:spPr>
          <a:xfrm>
            <a:off x="3472222" y="2256944"/>
            <a:ext cx="2777778" cy="416667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150">
                <a:solidFill>
                  <a:srgbClr val="60646C"/>
                </a:solidFill>
              </a:rPr>
              <a:t>window_size=128</a:t>
            </a:r>
            <a:endParaRPr lang="zh-CN" sz="1150"/>
          </a:p>
          <a:p>
            <a:pPr algn="l"/>
            <a:r>
              <a:rPr lang="zh-CN" sz="1150">
                <a:solidFill>
                  <a:srgbClr val="60646C"/>
                </a:solidFill>
              </a:rPr>
              <a:t>保证最近上下文完整参与</a:t>
            </a:r>
            <a:endParaRPr lang="zh-CN" sz="1150"/>
          </a:p>
        </p:txBody>
      </p:sp>
      <p:sp>
        <p:nvSpPr>
          <p:cNvPr id="44" name="compress note"/>
          <p:cNvSpPr txBox="1"/>
          <p:nvPr/>
        </p:nvSpPr>
        <p:spPr>
          <a:xfrm>
            <a:off x="3472222" y="3611111"/>
            <a:ext cx="3055555" cy="48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150">
                <a:solidFill>
                  <a:srgbClr val="60646C"/>
                </a:solidFill>
              </a:rPr>
              <a:t>index_topk=1024</a:t>
            </a:r>
            <a:endParaRPr lang="zh-CN" sz="1150"/>
          </a:p>
          <a:p>
            <a:pPr algn="l"/>
            <a:r>
              <a:rPr lang="zh-CN" sz="1150">
                <a:solidFill>
                  <a:srgbClr val="60646C"/>
                </a:solidFill>
              </a:rPr>
              <a:t>由 Indexer 选出最相关压缩槽位</a:t>
            </a:r>
            <a:endParaRPr lang="zh-CN" sz="1150"/>
          </a:p>
        </p:txBody>
      </p:sp>
      <p:sp>
        <p:nvSpPr>
          <p:cNvPr id="45" name="formula note"/>
          <p:cNvSpPr txBox="1"/>
          <p:nvPr/>
        </p:nvSpPr>
        <p:spPr>
          <a:xfrm>
            <a:off x="7013889" y="4965278"/>
            <a:ext cx="4305555" cy="625000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300">
                <a:solidFill>
                  <a:srgbClr val="151515"/>
                </a:solidFill>
              </a:rPr>
              <a:t>稀疏来自 K/V 集合的选择；Attention 公式本身仍是标准 QK^T → softmax → V。</a:t>
            </a:r>
            <a:endParaRPr lang="zh-CN" sz="1300"/>
          </a:p>
        </p:txBody>
      </p:sp>
      <p:sp>
        <p:nvSpPr>
          <p:cNvPr id="900" name="footer"/>
          <p:cNvSpPr txBox="1"/>
          <p:nvPr/>
        </p:nvSpPr>
        <p:spPr>
          <a:xfrm>
            <a:off x="416667" y="7194444"/>
            <a:ext cx="7638889" cy="166667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900">
                <a:solidFill>
                  <a:srgbClr val="7A7A7A"/>
                </a:solidFill>
              </a:rPr>
              <a:t>CSA Computation Graph | DeepSeek V4 attention notes</a:t>
            </a:r>
            <a:endParaRPr lang="zh-CN" sz="900"/>
          </a:p>
        </p:txBody>
      </p:sp>
      <p:sp>
        <p:nvSpPr>
          <p:cNvPr id="901" name="page"/>
          <p:cNvSpPr txBox="1"/>
          <p:nvPr/>
        </p:nvSpPr>
        <p:spPr>
          <a:xfrm>
            <a:off x="12569444" y="7194444"/>
            <a:ext cx="416667" cy="166667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r"/>
            <a:r>
              <a:rPr lang="zh-CN" sz="900">
                <a:solidFill>
                  <a:srgbClr val="7A7A7A"/>
                </a:solidFill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416667" y="194444"/>
            <a:ext cx="8333333" cy="333333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3000" b="1">
                <a:solidFill>
                  <a:srgbClr val="151515"/>
                </a:solidFill>
              </a:rPr>
              <a:t>CSA: 输出投影与 Block 回路</a:t>
            </a:r>
            <a:endParaRPr lang="zh-CN" sz="3000"/>
          </a:p>
        </p:txBody>
      </p:sp>
      <p:sp>
        <p:nvSpPr>
          <p:cNvPr id="11" name="slide subtitle"/>
          <p:cNvSpPr txBox="1"/>
          <p:nvPr/>
        </p:nvSpPr>
        <p:spPr>
          <a:xfrm>
            <a:off x="416667" y="541667"/>
            <a:ext cx="9722222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500">
                <a:solidFill>
                  <a:srgbClr val="60646C"/>
                </a:solidFill>
              </a:rPr>
              <a:t>Attention 输出回到 hidden_size 后，与 hc_pre 残差合并并继续进入 MoE</a:t>
            </a:r>
            <a:endParaRPr lang="zh-CN" sz="1500"/>
          </a:p>
        </p:txBody>
      </p:sp>
      <p:sp>
        <p:nvSpPr>
          <p:cNvPr id="20" name="Block 内部回路 box"/>
          <p:cNvSpPr/>
          <p:nvPr/>
        </p:nvSpPr>
        <p:spPr>
          <a:xfrm>
            <a:off x="555556" y="1041667"/>
            <a:ext cx="12222222" cy="5763889"/>
          </a:xfrm>
          <a:prstGeom prst="roundRect">
            <a:avLst/>
          </a:prstGeom>
          <a:solidFill>
            <a:srgbClr val="FFF6E8"/>
          </a:solidFill>
          <a:ln w="12000">
            <a:solidFill>
              <a:srgbClr val="E88900"/>
            </a:solidFill>
            <a:prstDash val="dash"/>
          </a:ln>
        </p:spPr>
        <p:txBody>
          <a:bodyPr/>
          <a:lstStyle/>
          <a:p/>
        </p:txBody>
      </p:sp>
      <p:sp>
        <p:nvSpPr>
          <p:cNvPr id="21" name="Block 内部回路"/>
          <p:cNvSpPr txBox="1"/>
          <p:nvPr/>
        </p:nvSpPr>
        <p:spPr>
          <a:xfrm>
            <a:off x="694444" y="1152778"/>
            <a:ext cx="11944444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2400" b="1">
                <a:solidFill>
                  <a:srgbClr val="E88900"/>
                </a:solidFill>
              </a:rPr>
              <a:t>Block 内部回路</a:t>
            </a:r>
            <a:endParaRPr lang="zh-CN" sz="2400"/>
          </a:p>
        </p:txBody>
      </p:sp>
      <p:sp>
        <p:nvSpPr>
          <p:cNvPr id="30" name="hc_pre"/>
          <p:cNvSpPr/>
          <p:nvPr/>
        </p:nvSpPr>
        <p:spPr>
          <a:xfrm>
            <a:off x="1180556" y="2777778"/>
            <a:ext cx="1527778" cy="444444"/>
          </a:xfrm>
          <a:prstGeom prst="roundRect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hc_pre</a:t>
            </a:r>
            <a:endParaRPr lang="zh-CN" sz="1500"/>
          </a:p>
        </p:txBody>
      </p:sp>
      <p:sp>
        <p:nvSpPr>
          <p:cNvPr id="31" name="RMSNorm"/>
          <p:cNvSpPr/>
          <p:nvPr/>
        </p:nvSpPr>
        <p:spPr>
          <a:xfrm>
            <a:off x="2777778" y="2777778"/>
            <a:ext cx="1527778" cy="444444"/>
          </a:xfrm>
          <a:prstGeom prst="roundRect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RMSNorm</a:t>
            </a:r>
            <a:endParaRPr lang="zh-CN" sz="1500"/>
          </a:p>
        </p:txBody>
      </p:sp>
      <p:sp>
        <p:nvSpPr>
          <p:cNvPr id="32" name="CSA"/>
          <p:cNvSpPr/>
          <p:nvPr/>
        </p:nvSpPr>
        <p:spPr>
          <a:xfrm>
            <a:off x="4444444" y="2604167"/>
            <a:ext cx="1458333" cy="833333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CSA</a:t>
            </a:r>
            <a:endParaRPr lang="zh-CN" sz="1500"/>
          </a:p>
        </p:txBody>
      </p:sp>
      <p:sp>
        <p:nvSpPr>
          <p:cNvPr id="33" name="RoPE inverse"/>
          <p:cNvSpPr/>
          <p:nvPr/>
        </p:nvSpPr>
        <p:spPr>
          <a:xfrm>
            <a:off x="6388889" y="2291667"/>
            <a:ext cx="1527778" cy="444444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RoPE inverse</a:t>
            </a:r>
            <a:endParaRPr lang="zh-CN" sz="1500"/>
          </a:p>
        </p:txBody>
      </p:sp>
      <p:sp>
        <p:nvSpPr>
          <p:cNvPr id="34" name="Linear(O down)"/>
          <p:cNvSpPr/>
          <p:nvPr/>
        </p:nvSpPr>
        <p:spPr>
          <a:xfrm>
            <a:off x="6388889" y="3055556"/>
            <a:ext cx="1527778" cy="444444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Linear(O down)</a:t>
            </a:r>
            <a:endParaRPr lang="zh-CN" sz="1500"/>
          </a:p>
        </p:txBody>
      </p:sp>
      <p:sp>
        <p:nvSpPr>
          <p:cNvPr id="35" name="Linear(O up)"/>
          <p:cNvSpPr/>
          <p:nvPr/>
        </p:nvSpPr>
        <p:spPr>
          <a:xfrm>
            <a:off x="6388889" y="3819444"/>
            <a:ext cx="1527778" cy="444444"/>
          </a:xfrm>
          <a:prstGeom prst="roundRect">
            <a:avLst/>
          </a:prstGeom>
          <a:solidFill>
            <a:srgbClr val="FF9F1A"/>
          </a:solidFill>
          <a:ln w="12000">
            <a:solidFill>
              <a:srgbClr val="E88900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Linear(O up)</a:t>
            </a:r>
            <a:endParaRPr lang="zh-CN" sz="1500"/>
          </a:p>
        </p:txBody>
      </p:sp>
      <p:sp>
        <p:nvSpPr>
          <p:cNvPr id="36" name="hc_post"/>
          <p:cNvSpPr/>
          <p:nvPr/>
        </p:nvSpPr>
        <p:spPr>
          <a:xfrm>
            <a:off x="8958333" y="2777778"/>
            <a:ext cx="1527778" cy="444444"/>
          </a:xfrm>
          <a:prstGeom prst="roundRect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hc_post</a:t>
            </a:r>
            <a:endParaRPr lang="zh-CN" sz="1500"/>
          </a:p>
        </p:txBody>
      </p:sp>
      <p:sp>
        <p:nvSpPr>
          <p:cNvPr id="37" name="MoE"/>
          <p:cNvSpPr/>
          <p:nvPr/>
        </p:nvSpPr>
        <p:spPr>
          <a:xfrm>
            <a:off x="10625000" y="2777778"/>
            <a:ext cx="1527778" cy="444444"/>
          </a:xfrm>
          <a:prstGeom prst="roundRect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500">
                <a:solidFill>
                  <a:srgbClr val="FFFFFF"/>
                </a:solidFill>
              </a:rPr>
              <a:t>MoE</a:t>
            </a:r>
            <a:endParaRPr lang="zh-CN" sz="1500"/>
          </a:p>
        </p:txBody>
      </p:sp>
      <p:cxnSp>
        <p:nvCxnSpPr>
          <p:cNvPr id="38" name="Arrow 38"/>
          <p:cNvCxnSpPr/>
          <p:nvPr/>
        </p:nvCxnSpPr>
        <p:spPr>
          <a:xfrm>
            <a:off x="2708333" y="3000000"/>
            <a:ext cx="69444" cy="69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39" name="Arrow 39"/>
          <p:cNvCxnSpPr/>
          <p:nvPr/>
        </p:nvCxnSpPr>
        <p:spPr>
          <a:xfrm>
            <a:off x="4305555" y="3000000"/>
            <a:ext cx="138889" cy="69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0" name="Arrow 40"/>
          <p:cNvCxnSpPr/>
          <p:nvPr/>
        </p:nvCxnSpPr>
        <p:spPr>
          <a:xfrm flipV="1">
            <a:off x="5902778" y="2513889"/>
            <a:ext cx="486111" cy="486111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1" name="Arrow 41"/>
          <p:cNvCxnSpPr/>
          <p:nvPr/>
        </p:nvCxnSpPr>
        <p:spPr>
          <a:xfrm>
            <a:off x="7152778" y="2736111"/>
            <a:ext cx="6944" cy="3194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2" name="Arrow 42"/>
          <p:cNvCxnSpPr/>
          <p:nvPr/>
        </p:nvCxnSpPr>
        <p:spPr>
          <a:xfrm>
            <a:off x="7152778" y="3500000"/>
            <a:ext cx="6944" cy="3194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sp>
        <p:nvSpPr>
          <p:cNvPr id="43" name="add"/>
          <p:cNvSpPr/>
          <p:nvPr/>
        </p:nvSpPr>
        <p:spPr>
          <a:xfrm>
            <a:off x="8263889" y="2833333"/>
            <a:ext cx="444444" cy="444444"/>
          </a:xfrm>
          <a:prstGeom prst="ellipse">
            <a:avLst/>
          </a:prstGeom>
          <a:solidFill>
            <a:srgbClr val="7B93F4"/>
          </a:solidFill>
          <a:ln w="12000">
            <a:solidFill>
              <a:srgbClr val="586DCE"/>
            </a:solidFill>
          </a:ln>
        </p:spPr>
        <p:txBody>
          <a:bodyPr wrap="square" anchor="mid" anchorCtr="1"/>
          <a:lstStyle/>
          <a:p>
            <a:pPr algn="ctr"/>
            <a:r>
              <a:rPr lang="zh-CN" sz="1700" b="1">
                <a:solidFill>
                  <a:srgbClr val="FFFFFF"/>
                </a:solidFill>
              </a:rPr>
              <a:t>+</a:t>
            </a:r>
            <a:endParaRPr lang="zh-CN" sz="1700"/>
          </a:p>
        </p:txBody>
      </p:sp>
      <p:cxnSp>
        <p:nvCxnSpPr>
          <p:cNvPr id="44" name="Arrow 44"/>
          <p:cNvCxnSpPr/>
          <p:nvPr/>
        </p:nvCxnSpPr>
        <p:spPr>
          <a:xfrm flipV="1">
            <a:off x="7916666" y="3055556"/>
            <a:ext cx="347222" cy="986111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5" name="Arrow 45"/>
          <p:cNvCxnSpPr/>
          <p:nvPr/>
        </p:nvCxnSpPr>
        <p:spPr>
          <a:xfrm flipV="1">
            <a:off x="8708333" y="3000000"/>
            <a:ext cx="250000" cy="55556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6" name="Arrow 46"/>
          <p:cNvCxnSpPr/>
          <p:nvPr/>
        </p:nvCxnSpPr>
        <p:spPr>
          <a:xfrm>
            <a:off x="10486111" y="3000000"/>
            <a:ext cx="138889" cy="6944"/>
          </a:xfrm>
          <a:prstGeom prst="line">
            <a:avLst/>
          </a:prstGeom>
          <a:ln w="18000">
            <a:solidFill>
              <a:srgbClr val="333333"/>
            </a:solidFill>
            <a:headEnd type="triangle"/>
          </a:ln>
        </p:spPr>
      </p:cxnSp>
      <p:cxnSp>
        <p:nvCxnSpPr>
          <p:cNvPr id="47" name="Arrow 47"/>
          <p:cNvCxnSpPr/>
          <p:nvPr/>
        </p:nvCxnSpPr>
        <p:spPr>
          <a:xfrm>
            <a:off x="1944444" y="3222222"/>
            <a:ext cx="6944" cy="1673611"/>
          </a:xfrm>
          <a:prstGeom prst="line">
            <a:avLst/>
          </a:prstGeom>
          <a:ln w="18000">
            <a:solidFill>
              <a:srgbClr val="333333"/>
            </a:solidFill>
            <a:prstDash val="dash"/>
            <a:headEnd type="triangle"/>
          </a:ln>
        </p:spPr>
      </p:cxnSp>
      <p:cxnSp>
        <p:nvCxnSpPr>
          <p:cNvPr id="48" name="Arrow 48"/>
          <p:cNvCxnSpPr/>
          <p:nvPr/>
        </p:nvCxnSpPr>
        <p:spPr>
          <a:xfrm>
            <a:off x="1944444" y="4895833"/>
            <a:ext cx="6319444" cy="6944"/>
          </a:xfrm>
          <a:prstGeom prst="line">
            <a:avLst/>
          </a:prstGeom>
          <a:ln w="18000">
            <a:solidFill>
              <a:srgbClr val="333333"/>
            </a:solidFill>
            <a:prstDash val="dash"/>
            <a:headEnd type="triangle"/>
          </a:ln>
        </p:spPr>
      </p:cxnSp>
      <p:cxnSp>
        <p:nvCxnSpPr>
          <p:cNvPr id="49" name="Arrow 49"/>
          <p:cNvCxnSpPr/>
          <p:nvPr/>
        </p:nvCxnSpPr>
        <p:spPr>
          <a:xfrm flipV="1">
            <a:off x="8263889" y="3277778"/>
            <a:ext cx="6944" cy="1618056"/>
          </a:xfrm>
          <a:prstGeom prst="line">
            <a:avLst/>
          </a:prstGeom>
          <a:ln w="18000">
            <a:solidFill>
              <a:srgbClr val="333333"/>
            </a:solidFill>
            <a:prstDash val="dash"/>
            <a:headEnd type="triangle"/>
          </a:ln>
        </p:spPr>
      </p:cxnSp>
      <p:sp>
        <p:nvSpPr>
          <p:cNvPr id="50" name="residual"/>
          <p:cNvSpPr txBox="1"/>
          <p:nvPr/>
        </p:nvSpPr>
        <p:spPr>
          <a:xfrm>
            <a:off x="2256944" y="5034722"/>
            <a:ext cx="4305555" cy="236111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200">
                <a:solidFill>
                  <a:srgbClr val="60646C"/>
                </a:solidFill>
              </a:rPr>
              <a:t>残差旁路：hc_pre 与 CSA 输出投影后的 hidden 向量相加</a:t>
            </a:r>
            <a:endParaRPr lang="zh-CN" sz="1200"/>
          </a:p>
        </p:txBody>
      </p:sp>
      <p:sp>
        <p:nvSpPr>
          <p:cNvPr id="51" name="params"/>
          <p:cNvSpPr txBox="1"/>
          <p:nvPr/>
        </p:nvSpPr>
        <p:spPr>
          <a:xfrm>
            <a:off x="4444444" y="3854167"/>
            <a:ext cx="1666667" cy="722222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100">
                <a:solidFill>
                  <a:srgbClr val="60646C"/>
                </a:solidFill>
              </a:rPr>
              <a:t>CSA 参数</a:t>
            </a:r>
            <a:endParaRPr lang="zh-CN" sz="1100"/>
          </a:p>
          <a:p>
            <a:pPr algn="l"/>
            <a:r>
              <a:rPr lang="zh-CN" sz="1100">
                <a:solidFill>
                  <a:srgbClr val="60646C"/>
                </a:solidFill>
              </a:rPr>
              <a:t>heads=128</a:t>
            </a:r>
            <a:endParaRPr lang="zh-CN" sz="1100"/>
          </a:p>
          <a:p>
            <a:pPr algn="l"/>
            <a:r>
              <a:rPr lang="zh-CN" sz="1100">
                <a:solidFill>
                  <a:srgbClr val="60646C"/>
                </a:solidFill>
              </a:rPr>
              <a:t>head_dim=512</a:t>
            </a:r>
            <a:endParaRPr lang="zh-CN" sz="1100"/>
          </a:p>
          <a:p>
            <a:pPr algn="l"/>
            <a:r>
              <a:rPr lang="zh-CN" sz="1100">
                <a:solidFill>
                  <a:srgbClr val="60646C"/>
                </a:solidFill>
              </a:rPr>
              <a:t>o_groups=16</a:t>
            </a:r>
            <a:endParaRPr lang="zh-CN" sz="1100"/>
          </a:p>
        </p:txBody>
      </p:sp>
      <p:sp>
        <p:nvSpPr>
          <p:cNvPr id="52" name="note"/>
          <p:cNvSpPr txBox="1"/>
          <p:nvPr/>
        </p:nvSpPr>
        <p:spPr>
          <a:xfrm>
            <a:off x="6388889" y="5034722"/>
            <a:ext cx="5000000" cy="625000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1300">
                <a:solidFill>
                  <a:srgbClr val="151515"/>
                </a:solidFill>
              </a:rPr>
              <a:t>O down/up 是低秩输出投影：先降到 o_groups * o_lora_rank，再升回 hidden_size，降低输出投影计算和存储压力。</a:t>
            </a:r>
            <a:endParaRPr lang="zh-CN" sz="1300"/>
          </a:p>
        </p:txBody>
      </p:sp>
      <p:sp>
        <p:nvSpPr>
          <p:cNvPr id="900" name="footer"/>
          <p:cNvSpPr txBox="1"/>
          <p:nvPr/>
        </p:nvSpPr>
        <p:spPr>
          <a:xfrm>
            <a:off x="416667" y="7194444"/>
            <a:ext cx="7638889" cy="166667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l"/>
            <a:r>
              <a:rPr lang="zh-CN" sz="900">
                <a:solidFill>
                  <a:srgbClr val="7A7A7A"/>
                </a:solidFill>
              </a:rPr>
              <a:t>CSA Computation Graph | DeepSeek V4 attention notes</a:t>
            </a:r>
            <a:endParaRPr lang="zh-CN" sz="900"/>
          </a:p>
        </p:txBody>
      </p:sp>
      <p:sp>
        <p:nvSpPr>
          <p:cNvPr id="901" name="page"/>
          <p:cNvSpPr txBox="1"/>
          <p:nvPr/>
        </p:nvSpPr>
        <p:spPr>
          <a:xfrm>
            <a:off x="12569444" y="7194444"/>
            <a:ext cx="416667" cy="166667"/>
          </a:xfrm>
          <a:prstGeom prst="rect">
            <a:avLst/>
          </a:prstGeom>
          <a:noFill/>
          <a:ln>
            <a:noFill/>
          </a:ln>
        </p:spPr>
        <p:txBody>
          <a:bodyPr wrap="square" anchor="mid" anchorCtr="1"/>
          <a:lstStyle/>
          <a:p>
            <a:pPr algn="r"/>
            <a:r>
              <a:rPr lang="zh-CN" sz="900">
                <a:solidFill>
                  <a:srgbClr val="7A7A7A"/>
                </a:solidFill>
              </a:rPr>
              <a:t>5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A Theme">
  <a:themeElements>
    <a:clrScheme name="CSA">
      <a:dk1>
        <a:srgbClr val="151515"/>
      </a:dk1>
      <a:lt1>
        <a:srgbClr val="FFFFFF"/>
      </a:lt1>
      <a:dk2>
        <a:srgbClr val="333333"/>
      </a:dk2>
      <a:lt2>
        <a:srgbClr val="F7F7F7"/>
      </a:lt2>
      <a:accent1>
        <a:srgbClr val="FF9F1A"/>
      </a:accent1>
      <a:accent2>
        <a:srgbClr val="7B93F4"/>
      </a:accent2>
      <a:accent3>
        <a:srgbClr val="91D64B"/>
      </a:accent3>
      <a:accent4>
        <a:srgbClr val="7533AD"/>
      </a:accent4>
      <a:accent5>
        <a:srgbClr val="FA1B1B"/>
      </a:accent5>
      <a:accent6>
        <a:srgbClr val="58D0C4"/>
      </a:accent6>
      <a:hlink>
        <a:srgbClr val="0563C1"/>
      </a:hlink>
      <a:folHlink>
        <a:srgbClr val="954F72"/>
      </a:folHlink>
    </a:clrScheme>
    <a:fontScheme name="CSA Fonts">
      <a:majorFont>
        <a:latin typeface="Aptos Display"/>
        <a:ea typeface="Microsoft YaHei"/>
      </a:majorFont>
      <a:minorFont>
        <a:latin typeface="Aptos"/>
        <a:ea typeface="Microsoft YaHei"/>
      </a:minorFont>
    </a:fontScheme>
    <a:fmtScheme name="CSA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5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 计算流图</dc:title>
  <dc:creator>Codex</dc:creator>
  <dcterms:created xsi:type="dcterms:W3CDTF">2026-04-27T08:35:19.295244+00:00</dcterms:created>
  <dcterms:modified xsi:type="dcterms:W3CDTF">2026-04-27T08:35:19.295244+00:00</dcterms:modified>
</cp:coreProperties>
</file>